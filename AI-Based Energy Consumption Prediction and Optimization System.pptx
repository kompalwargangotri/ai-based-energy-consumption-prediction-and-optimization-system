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ial Bold" charset="1" panose="020B0704020202020204"/>
      <p:regular r:id="rId21"/>
    </p:embeddedFont>
    <p:embeddedFont>
      <p:font typeface="Arial" charset="1" panose="020B0604020202020204"/>
      <p:regular r:id="rId22"/>
    </p:embeddedFont>
    <p:embeddedFont>
      <p:font typeface="Canva Sans" charset="1" panose="020B0503030501040103"/>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6.png" Type="http://schemas.openxmlformats.org/officeDocument/2006/relationships/image"/><Relationship Id="rId5"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13.png" Type="http://schemas.openxmlformats.org/officeDocument/2006/relationships/image"/><Relationship Id="rId5" Target="https://github.com/ShubhamJ-18/AI-Based-Energy-Consumption-Prediction-and-Optimization-System.git"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3" id="13"/>
          <p:cNvGrpSpPr/>
          <p:nvPr/>
        </p:nvGrpSpPr>
        <p:grpSpPr>
          <a:xfrm rot="0">
            <a:off x="0" y="0"/>
            <a:ext cx="18288000" cy="10287000"/>
            <a:chOff x="0" y="0"/>
            <a:chExt cx="24384000" cy="13716000"/>
          </a:xfrm>
        </p:grpSpPr>
        <p:sp>
          <p:nvSpPr>
            <p:cNvPr name="Freeform 14" id="14" descr="A person sitting at a desk with a computer  Description automatically generated"/>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4"/>
              <a:stretch>
                <a:fillRect l="0" t="0" r="0" b="0"/>
              </a:stretch>
            </a:blipFill>
          </p:spPr>
        </p:sp>
      </p:grpSp>
      <p:grpSp>
        <p:nvGrpSpPr>
          <p:cNvPr name="Group 15" id="15"/>
          <p:cNvGrpSpPr/>
          <p:nvPr/>
        </p:nvGrpSpPr>
        <p:grpSpPr>
          <a:xfrm rot="0">
            <a:off x="13012264" y="857250"/>
            <a:ext cx="3203762" cy="1504950"/>
            <a:chOff x="0" y="0"/>
            <a:chExt cx="4271683" cy="2006600"/>
          </a:xfrm>
        </p:grpSpPr>
        <p:sp>
          <p:nvSpPr>
            <p:cNvPr name="Freeform 16" id="16"/>
            <p:cNvSpPr/>
            <p:nvPr/>
          </p:nvSpPr>
          <p:spPr>
            <a:xfrm flipH="false" flipV="false" rot="0">
              <a:off x="25400" y="25400"/>
              <a:ext cx="4220845" cy="1955800"/>
            </a:xfrm>
            <a:custGeom>
              <a:avLst/>
              <a:gdLst/>
              <a:ahLst/>
              <a:cxnLst/>
              <a:rect r="r" b="b" t="t" l="l"/>
              <a:pathLst>
                <a:path h="1955800" w="4220845">
                  <a:moveTo>
                    <a:pt x="0" y="326009"/>
                  </a:moveTo>
                  <a:cubicBezTo>
                    <a:pt x="0" y="145923"/>
                    <a:pt x="147955" y="0"/>
                    <a:pt x="330454" y="0"/>
                  </a:cubicBezTo>
                  <a:lnTo>
                    <a:pt x="3890391" y="0"/>
                  </a:lnTo>
                  <a:cubicBezTo>
                    <a:pt x="4072890" y="0"/>
                    <a:pt x="4220845" y="145923"/>
                    <a:pt x="4220845" y="326009"/>
                  </a:cubicBezTo>
                  <a:lnTo>
                    <a:pt x="4220845" y="1629791"/>
                  </a:lnTo>
                  <a:cubicBezTo>
                    <a:pt x="4220845" y="1809877"/>
                    <a:pt x="4072890" y="1955800"/>
                    <a:pt x="3890391" y="1955800"/>
                  </a:cubicBezTo>
                  <a:lnTo>
                    <a:pt x="330454" y="1955800"/>
                  </a:lnTo>
                  <a:cubicBezTo>
                    <a:pt x="147955" y="1955800"/>
                    <a:pt x="0" y="1809877"/>
                    <a:pt x="0" y="1629791"/>
                  </a:cubicBezTo>
                  <a:close/>
                </a:path>
              </a:pathLst>
            </a:custGeom>
            <a:solidFill>
              <a:srgbClr val="EBEEF9"/>
            </a:solidFill>
          </p:spPr>
        </p:sp>
        <p:sp>
          <p:nvSpPr>
            <p:cNvPr name="Freeform 17" id="17"/>
            <p:cNvSpPr/>
            <p:nvPr/>
          </p:nvSpPr>
          <p:spPr>
            <a:xfrm flipH="false" flipV="false" rot="0">
              <a:off x="0" y="0"/>
              <a:ext cx="4271645" cy="2006600"/>
            </a:xfrm>
            <a:custGeom>
              <a:avLst/>
              <a:gdLst/>
              <a:ahLst/>
              <a:cxnLst/>
              <a:rect r="r" b="b" t="t" l="l"/>
              <a:pathLst>
                <a:path h="2006600" w="4271645">
                  <a:moveTo>
                    <a:pt x="0" y="351409"/>
                  </a:moveTo>
                  <a:cubicBezTo>
                    <a:pt x="0" y="156972"/>
                    <a:pt x="159639" y="0"/>
                    <a:pt x="355854" y="0"/>
                  </a:cubicBezTo>
                  <a:lnTo>
                    <a:pt x="3915791" y="0"/>
                  </a:lnTo>
                  <a:lnTo>
                    <a:pt x="3915791" y="25400"/>
                  </a:lnTo>
                  <a:lnTo>
                    <a:pt x="3915791" y="0"/>
                  </a:lnTo>
                  <a:cubicBezTo>
                    <a:pt x="4112006" y="0"/>
                    <a:pt x="4271645" y="156972"/>
                    <a:pt x="4271645" y="351409"/>
                  </a:cubicBezTo>
                  <a:lnTo>
                    <a:pt x="4246245" y="351409"/>
                  </a:lnTo>
                  <a:lnTo>
                    <a:pt x="4271645" y="351409"/>
                  </a:lnTo>
                  <a:lnTo>
                    <a:pt x="4271645" y="1655191"/>
                  </a:lnTo>
                  <a:lnTo>
                    <a:pt x="4246245" y="1655191"/>
                  </a:lnTo>
                  <a:lnTo>
                    <a:pt x="4271645" y="1655191"/>
                  </a:lnTo>
                  <a:cubicBezTo>
                    <a:pt x="4271645" y="1849628"/>
                    <a:pt x="4112006" y="2006600"/>
                    <a:pt x="3915791" y="2006600"/>
                  </a:cubicBezTo>
                  <a:lnTo>
                    <a:pt x="3915791" y="1981200"/>
                  </a:lnTo>
                  <a:lnTo>
                    <a:pt x="3915791" y="2006600"/>
                  </a:lnTo>
                  <a:lnTo>
                    <a:pt x="355854" y="2006600"/>
                  </a:lnTo>
                  <a:lnTo>
                    <a:pt x="355854" y="1981200"/>
                  </a:lnTo>
                  <a:lnTo>
                    <a:pt x="355854" y="2006600"/>
                  </a:lnTo>
                  <a:cubicBezTo>
                    <a:pt x="159639" y="2006600"/>
                    <a:pt x="0" y="1849628"/>
                    <a:pt x="0" y="1655191"/>
                  </a:cubicBezTo>
                  <a:lnTo>
                    <a:pt x="0" y="351409"/>
                  </a:lnTo>
                  <a:lnTo>
                    <a:pt x="25400" y="351409"/>
                  </a:lnTo>
                  <a:lnTo>
                    <a:pt x="0" y="351409"/>
                  </a:lnTo>
                  <a:moveTo>
                    <a:pt x="50800" y="351409"/>
                  </a:moveTo>
                  <a:lnTo>
                    <a:pt x="50800" y="1655191"/>
                  </a:lnTo>
                  <a:lnTo>
                    <a:pt x="25400" y="1655191"/>
                  </a:lnTo>
                  <a:lnTo>
                    <a:pt x="50800" y="1655191"/>
                  </a:lnTo>
                  <a:cubicBezTo>
                    <a:pt x="50800" y="1820926"/>
                    <a:pt x="187071" y="1955800"/>
                    <a:pt x="355854" y="1955800"/>
                  </a:cubicBezTo>
                  <a:lnTo>
                    <a:pt x="3915791" y="1955800"/>
                  </a:lnTo>
                  <a:cubicBezTo>
                    <a:pt x="4084574" y="1955800"/>
                    <a:pt x="4220845" y="1820926"/>
                    <a:pt x="4220845" y="1655191"/>
                  </a:cubicBezTo>
                  <a:lnTo>
                    <a:pt x="4220845" y="351409"/>
                  </a:lnTo>
                  <a:cubicBezTo>
                    <a:pt x="4220845" y="185674"/>
                    <a:pt x="4084574" y="50800"/>
                    <a:pt x="3915791" y="50800"/>
                  </a:cubicBezTo>
                  <a:lnTo>
                    <a:pt x="355854" y="50800"/>
                  </a:lnTo>
                  <a:lnTo>
                    <a:pt x="355854" y="25400"/>
                  </a:lnTo>
                  <a:lnTo>
                    <a:pt x="355854" y="50800"/>
                  </a:lnTo>
                  <a:cubicBezTo>
                    <a:pt x="187071" y="50800"/>
                    <a:pt x="50800" y="185674"/>
                    <a:pt x="50800" y="351409"/>
                  </a:cubicBezTo>
                  <a:close/>
                </a:path>
              </a:pathLst>
            </a:custGeom>
            <a:solidFill>
              <a:srgbClr val="D9D9D9"/>
            </a:solidFill>
          </p:spPr>
        </p:sp>
      </p:grpSp>
      <p:sp>
        <p:nvSpPr>
          <p:cNvPr name="TextBox 18" id="18"/>
          <p:cNvSpPr txBox="true"/>
          <p:nvPr/>
        </p:nvSpPr>
        <p:spPr>
          <a:xfrm rot="0">
            <a:off x="7662701" y="2781972"/>
            <a:ext cx="9596599" cy="2771775"/>
          </a:xfrm>
          <a:prstGeom prst="rect">
            <a:avLst/>
          </a:prstGeom>
        </p:spPr>
        <p:txBody>
          <a:bodyPr anchor="t" rtlCol="false" tIns="0" lIns="0" bIns="0" rIns="0">
            <a:spAutoFit/>
          </a:bodyPr>
          <a:lstStyle/>
          <a:p>
            <a:pPr algn="r">
              <a:lnSpc>
                <a:spcPts val="7200"/>
              </a:lnSpc>
            </a:pPr>
            <a:r>
              <a:rPr lang="en-US" sz="6000" b="true">
                <a:solidFill>
                  <a:srgbClr val="FFFFFF"/>
                </a:solidFill>
                <a:latin typeface="Arial Bold"/>
                <a:ea typeface="Arial Bold"/>
                <a:cs typeface="Arial Bold"/>
                <a:sym typeface="Arial Bold"/>
              </a:rPr>
              <a:t>AI-Based Energy Consumption Prediction and Optimization System</a:t>
            </a:r>
          </a:p>
        </p:txBody>
      </p:sp>
      <p:grpSp>
        <p:nvGrpSpPr>
          <p:cNvPr name="Group 19" id="19"/>
          <p:cNvGrpSpPr/>
          <p:nvPr/>
        </p:nvGrpSpPr>
        <p:grpSpPr>
          <a:xfrm rot="0">
            <a:off x="13592918" y="1301601"/>
            <a:ext cx="1894732" cy="616248"/>
            <a:chOff x="0" y="0"/>
            <a:chExt cx="2526309" cy="821665"/>
          </a:xfrm>
        </p:grpSpPr>
        <p:sp>
          <p:nvSpPr>
            <p:cNvPr name="Freeform 20" id="20" descr="A close up of a logo  Description automatically generated"/>
            <p:cNvSpPr/>
            <p:nvPr/>
          </p:nvSpPr>
          <p:spPr>
            <a:xfrm flipH="false" flipV="false" rot="0">
              <a:off x="0" y="0"/>
              <a:ext cx="2526284" cy="821690"/>
            </a:xfrm>
            <a:custGeom>
              <a:avLst/>
              <a:gdLst/>
              <a:ahLst/>
              <a:cxnLst/>
              <a:rect r="r" b="b" t="t" l="l"/>
              <a:pathLst>
                <a:path h="821690" w="2526284">
                  <a:moveTo>
                    <a:pt x="0" y="0"/>
                  </a:moveTo>
                  <a:lnTo>
                    <a:pt x="2526284" y="0"/>
                  </a:lnTo>
                  <a:lnTo>
                    <a:pt x="2526284" y="821690"/>
                  </a:lnTo>
                  <a:lnTo>
                    <a:pt x="0" y="821690"/>
                  </a:lnTo>
                  <a:lnTo>
                    <a:pt x="0" y="0"/>
                  </a:lnTo>
                  <a:close/>
                </a:path>
              </a:pathLst>
            </a:custGeom>
            <a:blipFill>
              <a:blip r:embed="rId5"/>
              <a:stretch>
                <a:fillRect l="0" t="-86" r="-1" b="-83"/>
              </a:stretch>
            </a:blipFill>
          </p:spPr>
        </p:sp>
      </p:grpSp>
      <p:sp>
        <p:nvSpPr>
          <p:cNvPr name="TextBox 21" id="21"/>
          <p:cNvSpPr txBox="true"/>
          <p:nvPr/>
        </p:nvSpPr>
        <p:spPr>
          <a:xfrm rot="0">
            <a:off x="6878393" y="5734722"/>
            <a:ext cx="8609257" cy="3267118"/>
          </a:xfrm>
          <a:prstGeom prst="rect">
            <a:avLst/>
          </a:prstGeom>
        </p:spPr>
        <p:txBody>
          <a:bodyPr anchor="t" rtlCol="false" tIns="0" lIns="0" bIns="0" rIns="0">
            <a:spAutoFit/>
          </a:bodyPr>
          <a:lstStyle/>
          <a:p>
            <a:pPr algn="l">
              <a:lnSpc>
                <a:spcPts val="2604"/>
              </a:lnSpc>
            </a:pPr>
            <a:r>
              <a:rPr lang="en-US" sz="2170">
                <a:solidFill>
                  <a:srgbClr val="FFFFFF"/>
                </a:solidFill>
                <a:latin typeface="Arial"/>
                <a:ea typeface="Arial"/>
                <a:cs typeface="Arial"/>
                <a:sym typeface="Arial"/>
              </a:rPr>
              <a:t>Team Members:</a:t>
            </a:r>
          </a:p>
          <a:p>
            <a:pPr algn="l">
              <a:lnSpc>
                <a:spcPts val="2604"/>
              </a:lnSpc>
            </a:pPr>
          </a:p>
          <a:p>
            <a:pPr algn="l" marL="468593" indent="-234296" lvl="1">
              <a:lnSpc>
                <a:spcPts val="2604"/>
              </a:lnSpc>
              <a:buAutoNum type="arabicPeriod" startAt="1"/>
            </a:pPr>
            <a:r>
              <a:rPr lang="en-US" sz="2170">
                <a:solidFill>
                  <a:srgbClr val="FFFFFF"/>
                </a:solidFill>
                <a:latin typeface="Arial"/>
                <a:ea typeface="Arial"/>
                <a:cs typeface="Arial"/>
                <a:sym typeface="Arial"/>
              </a:rPr>
              <a:t>Gangotri Datta Kompalwar </a:t>
            </a:r>
          </a:p>
          <a:p>
            <a:pPr algn="l" marL="468593" indent="-234296" lvl="1">
              <a:lnSpc>
                <a:spcPts val="2604"/>
              </a:lnSpc>
              <a:buAutoNum type="arabicPeriod" startAt="1"/>
            </a:pPr>
            <a:r>
              <a:rPr lang="en-US" sz="2170">
                <a:solidFill>
                  <a:srgbClr val="FFFFFF"/>
                </a:solidFill>
                <a:latin typeface="Arial"/>
                <a:ea typeface="Arial"/>
                <a:cs typeface="Arial"/>
                <a:sym typeface="Arial"/>
              </a:rPr>
              <a:t>Prathmesh Raju Gavhane </a:t>
            </a:r>
          </a:p>
          <a:p>
            <a:pPr algn="l" marL="464326" indent="-232163" lvl="1">
              <a:lnSpc>
                <a:spcPts val="2580"/>
              </a:lnSpc>
              <a:buAutoNum type="arabicPeriod" startAt="1"/>
            </a:pPr>
            <a:r>
              <a:rPr lang="en-US" sz="2150">
                <a:solidFill>
                  <a:srgbClr val="FFFFFF"/>
                </a:solidFill>
                <a:latin typeface="Arial"/>
                <a:ea typeface="Arial"/>
                <a:cs typeface="Arial"/>
                <a:sym typeface="Arial"/>
              </a:rPr>
              <a:t>Shubham Joshi </a:t>
            </a:r>
          </a:p>
          <a:p>
            <a:pPr algn="l" marL="464326" indent="-232163" lvl="1">
              <a:lnSpc>
                <a:spcPts val="2580"/>
              </a:lnSpc>
              <a:buAutoNum type="arabicPeriod" startAt="1"/>
            </a:pPr>
            <a:r>
              <a:rPr lang="en-US" sz="2150">
                <a:solidFill>
                  <a:srgbClr val="FFFFFF"/>
                </a:solidFill>
                <a:latin typeface="Arial"/>
                <a:ea typeface="Arial"/>
                <a:cs typeface="Arial"/>
                <a:sym typeface="Arial"/>
              </a:rPr>
              <a:t>Rohit sonar </a:t>
            </a:r>
          </a:p>
          <a:p>
            <a:pPr algn="l">
              <a:lnSpc>
                <a:spcPts val="2580"/>
              </a:lnSpc>
            </a:pPr>
          </a:p>
          <a:p>
            <a:pPr algn="l">
              <a:lnSpc>
                <a:spcPts val="2604"/>
              </a:lnSpc>
            </a:pPr>
            <a:r>
              <a:rPr lang="en-US" sz="2170">
                <a:solidFill>
                  <a:srgbClr val="FFFFFF"/>
                </a:solidFill>
                <a:latin typeface="Arial"/>
                <a:ea typeface="Arial"/>
                <a:cs typeface="Arial"/>
                <a:sym typeface="Arial"/>
              </a:rPr>
              <a:t>                                                          Prof. Sarthak Narnor</a:t>
            </a:r>
          </a:p>
          <a:p>
            <a:pPr algn="l">
              <a:lnSpc>
                <a:spcPts val="2604"/>
              </a:lnSpc>
            </a:pPr>
          </a:p>
          <a:p>
            <a:pPr algn="l">
              <a:lnSpc>
                <a:spcPts val="2604"/>
              </a:lnSpc>
            </a:pPr>
            <a:r>
              <a:rPr lang="en-US" sz="2170">
                <a:solidFill>
                  <a:srgbClr val="FFFFFF"/>
                </a:solidFill>
                <a:latin typeface="Arial"/>
                <a:ea typeface="Arial"/>
                <a:cs typeface="Arial"/>
                <a:sym typeface="Arial"/>
              </a:rPr>
              <a:t>College Name -  MIT ACADEMY OF ENGINEERING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AutoShape 13" id="13"/>
          <p:cNvSpPr/>
          <p:nvPr/>
        </p:nvSpPr>
        <p:spPr>
          <a:xfrm rot="3600">
            <a:off x="-9535" y="9078278"/>
            <a:ext cx="18307060" cy="0"/>
          </a:xfrm>
          <a:prstGeom prst="line">
            <a:avLst/>
          </a:prstGeom>
          <a:ln cap="rnd" w="9525">
            <a:solidFill>
              <a:srgbClr val="FFFFFF"/>
            </a:solidFill>
            <a:prstDash val="solid"/>
            <a:headEnd type="none" len="sm" w="sm"/>
            <a:tailEnd type="none" len="sm" w="sm"/>
          </a:ln>
        </p:spPr>
      </p:sp>
      <p:sp>
        <p:nvSpPr>
          <p:cNvPr name="TextBox 14" id="14"/>
          <p:cNvSpPr txBox="true"/>
          <p:nvPr/>
        </p:nvSpPr>
        <p:spPr>
          <a:xfrm rot="0">
            <a:off x="703183" y="1382335"/>
            <a:ext cx="7354862" cy="867270"/>
          </a:xfrm>
          <a:prstGeom prst="rect">
            <a:avLst/>
          </a:prstGeom>
        </p:spPr>
        <p:txBody>
          <a:bodyPr anchor="t" rtlCol="false" tIns="0" lIns="0" bIns="0" rIns="0">
            <a:spAutoFit/>
          </a:bodyPr>
          <a:lstStyle/>
          <a:p>
            <a:pPr algn="l">
              <a:lnSpc>
                <a:spcPts val="3600"/>
              </a:lnSpc>
            </a:pPr>
            <a:r>
              <a:rPr lang="en-US" b="true" sz="3000">
                <a:solidFill>
                  <a:srgbClr val="213163"/>
                </a:solidFill>
                <a:latin typeface="Arial Bold"/>
                <a:ea typeface="Arial Bold"/>
                <a:cs typeface="Arial Bold"/>
                <a:sym typeface="Arial Bold"/>
              </a:rPr>
              <a:t>Project Outline</a:t>
            </a:r>
          </a:p>
        </p:txBody>
      </p:sp>
      <p:grpSp>
        <p:nvGrpSpPr>
          <p:cNvPr name="Group 15" id="15"/>
          <p:cNvGrpSpPr/>
          <p:nvPr/>
        </p:nvGrpSpPr>
        <p:grpSpPr>
          <a:xfrm rot="0">
            <a:off x="10621899" y="1686916"/>
            <a:ext cx="6904234" cy="6920570"/>
            <a:chOff x="0" y="0"/>
            <a:chExt cx="9205646" cy="9227426"/>
          </a:xfrm>
        </p:grpSpPr>
        <p:sp>
          <p:nvSpPr>
            <p:cNvPr name="Freeform 16" id="16"/>
            <p:cNvSpPr/>
            <p:nvPr/>
          </p:nvSpPr>
          <p:spPr>
            <a:xfrm flipH="false" flipV="false" rot="0">
              <a:off x="0" y="0"/>
              <a:ext cx="9205595" cy="9227439"/>
            </a:xfrm>
            <a:custGeom>
              <a:avLst/>
              <a:gdLst/>
              <a:ahLst/>
              <a:cxnLst/>
              <a:rect r="r" b="b" t="t" l="l"/>
              <a:pathLst>
                <a:path h="9227439" w="9205595">
                  <a:moveTo>
                    <a:pt x="0" y="0"/>
                  </a:moveTo>
                  <a:lnTo>
                    <a:pt x="9205595" y="0"/>
                  </a:lnTo>
                  <a:lnTo>
                    <a:pt x="9205595" y="9227439"/>
                  </a:lnTo>
                  <a:lnTo>
                    <a:pt x="0" y="9227439"/>
                  </a:lnTo>
                  <a:lnTo>
                    <a:pt x="0" y="0"/>
                  </a:lnTo>
                  <a:close/>
                </a:path>
              </a:pathLst>
            </a:custGeom>
            <a:blipFill>
              <a:blip r:embed="rId4"/>
              <a:stretch>
                <a:fillRect l="-118" t="0" r="-118" b="0"/>
              </a:stretch>
            </a:blipFill>
          </p:spPr>
        </p:sp>
      </p:grpSp>
      <p:sp>
        <p:nvSpPr>
          <p:cNvPr name="TextBox 17" id="17"/>
          <p:cNvSpPr txBox="true"/>
          <p:nvPr/>
        </p:nvSpPr>
        <p:spPr>
          <a:xfrm rot="0">
            <a:off x="703183" y="1869526"/>
            <a:ext cx="8440817" cy="8629651"/>
          </a:xfrm>
          <a:prstGeom prst="rect">
            <a:avLst/>
          </a:prstGeom>
        </p:spPr>
        <p:txBody>
          <a:bodyPr anchor="t" rtlCol="false" tIns="0" lIns="0" bIns="0" rIns="0">
            <a:spAutoFit/>
          </a:bodyPr>
          <a:lstStyle/>
          <a:p>
            <a:pPr algn="l" marL="542922" indent="-271461" lvl="1">
              <a:lnSpc>
                <a:spcPts val="5399"/>
              </a:lnSpc>
              <a:buFont typeface="Arial"/>
              <a:buChar char="•"/>
            </a:pPr>
            <a:r>
              <a:rPr lang="en-US" sz="2999">
                <a:solidFill>
                  <a:srgbClr val="000000"/>
                </a:solidFill>
                <a:latin typeface="Arial"/>
                <a:ea typeface="Arial"/>
                <a:cs typeface="Arial"/>
                <a:sym typeface="Arial"/>
              </a:rPr>
              <a:t>Problem Statement and Objectives</a:t>
            </a:r>
          </a:p>
          <a:p>
            <a:pPr algn="l" marL="542922" indent="-271461" lvl="1">
              <a:lnSpc>
                <a:spcPts val="5399"/>
              </a:lnSpc>
              <a:buFont typeface="Arial"/>
              <a:buChar char="•"/>
            </a:pPr>
            <a:r>
              <a:rPr lang="en-US" sz="2999">
                <a:solidFill>
                  <a:srgbClr val="000000"/>
                </a:solidFill>
                <a:latin typeface="Arial"/>
                <a:ea typeface="Arial"/>
                <a:cs typeface="Arial"/>
                <a:sym typeface="Arial"/>
              </a:rPr>
              <a:t>Project Overview – Introduction</a:t>
            </a:r>
          </a:p>
          <a:p>
            <a:pPr algn="l" marL="542922" indent="-271461" lvl="1">
              <a:lnSpc>
                <a:spcPts val="5399"/>
              </a:lnSpc>
              <a:buFont typeface="Arial"/>
              <a:buChar char="•"/>
            </a:pPr>
            <a:r>
              <a:rPr lang="en-US" sz="2999">
                <a:solidFill>
                  <a:srgbClr val="000000"/>
                </a:solidFill>
                <a:latin typeface="Arial"/>
                <a:ea typeface="Arial"/>
                <a:cs typeface="Arial"/>
                <a:sym typeface="Arial"/>
              </a:rPr>
              <a:t>Dataset and Model Details</a:t>
            </a:r>
          </a:p>
          <a:p>
            <a:pPr algn="l" marL="542922" indent="-271461" lvl="1">
              <a:lnSpc>
                <a:spcPts val="5399"/>
              </a:lnSpc>
              <a:buFont typeface="Arial"/>
              <a:buChar char="•"/>
            </a:pPr>
            <a:r>
              <a:rPr lang="en-US" sz="2999">
                <a:solidFill>
                  <a:srgbClr val="000000"/>
                </a:solidFill>
                <a:latin typeface="Arial"/>
                <a:ea typeface="Arial"/>
                <a:cs typeface="Arial"/>
                <a:sym typeface="Arial"/>
              </a:rPr>
              <a:t>End Users</a:t>
            </a:r>
          </a:p>
          <a:p>
            <a:pPr algn="l" marL="542922" indent="-271461" lvl="1">
              <a:lnSpc>
                <a:spcPts val="5399"/>
              </a:lnSpc>
              <a:buFont typeface="Arial"/>
              <a:buChar char="•"/>
            </a:pPr>
            <a:r>
              <a:rPr lang="en-US" sz="2999">
                <a:solidFill>
                  <a:srgbClr val="000000"/>
                </a:solidFill>
                <a:latin typeface="Arial"/>
                <a:ea typeface="Arial"/>
                <a:cs typeface="Arial"/>
                <a:sym typeface="Arial"/>
              </a:rPr>
              <a:t>Wow Factor in Project</a:t>
            </a:r>
          </a:p>
          <a:p>
            <a:pPr algn="l" marL="542922" indent="-271461" lvl="1">
              <a:lnSpc>
                <a:spcPts val="5399"/>
              </a:lnSpc>
              <a:buFont typeface="Arial"/>
              <a:buChar char="•"/>
            </a:pPr>
            <a:r>
              <a:rPr lang="en-US" sz="2999">
                <a:solidFill>
                  <a:srgbClr val="000000"/>
                </a:solidFill>
                <a:latin typeface="Arial"/>
                <a:ea typeface="Arial"/>
                <a:cs typeface="Arial"/>
                <a:sym typeface="Arial"/>
              </a:rPr>
              <a:t>Modelling/Block Diagram/Flow of Project (Flowchart)</a:t>
            </a:r>
          </a:p>
          <a:p>
            <a:pPr algn="l" marL="542922" indent="-271461" lvl="1">
              <a:lnSpc>
                <a:spcPts val="5399"/>
              </a:lnSpc>
              <a:buFont typeface="Arial"/>
              <a:buChar char="•"/>
            </a:pPr>
            <a:r>
              <a:rPr lang="en-US" sz="2999">
                <a:solidFill>
                  <a:srgbClr val="000000"/>
                </a:solidFill>
                <a:latin typeface="Arial"/>
                <a:ea typeface="Arial"/>
                <a:cs typeface="Arial"/>
                <a:sym typeface="Arial"/>
              </a:rPr>
              <a:t>Result/outcomes</a:t>
            </a:r>
          </a:p>
          <a:p>
            <a:pPr algn="l" marL="542922" indent="-271461" lvl="1">
              <a:lnSpc>
                <a:spcPts val="5399"/>
              </a:lnSpc>
              <a:buFont typeface="Arial"/>
              <a:buChar char="•"/>
            </a:pPr>
            <a:r>
              <a:rPr lang="en-US" sz="2999">
                <a:solidFill>
                  <a:srgbClr val="000000"/>
                </a:solidFill>
                <a:latin typeface="Arial"/>
                <a:ea typeface="Arial"/>
                <a:cs typeface="Arial"/>
                <a:sym typeface="Arial"/>
              </a:rPr>
              <a:t>Conclusion</a:t>
            </a:r>
          </a:p>
          <a:p>
            <a:pPr algn="l" marL="542922" indent="-271461" lvl="1">
              <a:lnSpc>
                <a:spcPts val="5399"/>
              </a:lnSpc>
              <a:buFont typeface="Arial"/>
              <a:buChar char="•"/>
            </a:pPr>
            <a:r>
              <a:rPr lang="en-US" sz="2999">
                <a:solidFill>
                  <a:srgbClr val="000000"/>
                </a:solidFill>
                <a:latin typeface="Arial"/>
                <a:ea typeface="Arial"/>
                <a:cs typeface="Arial"/>
                <a:sym typeface="Arial"/>
              </a:rPr>
              <a:t>Future Perspective</a:t>
            </a:r>
          </a:p>
          <a:p>
            <a:pPr algn="l" marL="542922" indent="-271461" lvl="1">
              <a:lnSpc>
                <a:spcPts val="5399"/>
              </a:lnSpc>
              <a:buFont typeface="Arial"/>
              <a:buChar char="•"/>
            </a:pPr>
            <a:r>
              <a:rPr lang="en-US" sz="2999">
                <a:solidFill>
                  <a:srgbClr val="000000"/>
                </a:solidFill>
                <a:latin typeface="Arial"/>
                <a:ea typeface="Arial"/>
                <a:cs typeface="Arial"/>
                <a:sym typeface="Arial"/>
              </a:rPr>
              <a:t>Reference (Datalink, Github, Anyother websites)</a:t>
            </a:r>
          </a:p>
          <a:p>
            <a:pPr algn="l" marL="542922" indent="-271461" lvl="1">
              <a:lnSpc>
                <a:spcPts val="35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3" id="13"/>
          <p:cNvGrpSpPr/>
          <p:nvPr/>
        </p:nvGrpSpPr>
        <p:grpSpPr>
          <a:xfrm rot="0">
            <a:off x="394545" y="2422817"/>
            <a:ext cx="17013510" cy="3373695"/>
            <a:chOff x="0" y="0"/>
            <a:chExt cx="4480924" cy="888545"/>
          </a:xfrm>
        </p:grpSpPr>
        <p:sp>
          <p:nvSpPr>
            <p:cNvPr name="Freeform 14" id="14"/>
            <p:cNvSpPr/>
            <p:nvPr/>
          </p:nvSpPr>
          <p:spPr>
            <a:xfrm flipH="false" flipV="false" rot="0">
              <a:off x="0" y="0"/>
              <a:ext cx="4480925" cy="888545"/>
            </a:xfrm>
            <a:custGeom>
              <a:avLst/>
              <a:gdLst/>
              <a:ahLst/>
              <a:cxnLst/>
              <a:rect r="r" b="b" t="t" l="l"/>
              <a:pathLst>
                <a:path h="888545" w="4480925">
                  <a:moveTo>
                    <a:pt x="0" y="0"/>
                  </a:moveTo>
                  <a:lnTo>
                    <a:pt x="4480925" y="0"/>
                  </a:lnTo>
                  <a:lnTo>
                    <a:pt x="4480925" y="888545"/>
                  </a:lnTo>
                  <a:lnTo>
                    <a:pt x="0" y="888545"/>
                  </a:lnTo>
                  <a:close/>
                </a:path>
              </a:pathLst>
            </a:custGeom>
            <a:solidFill>
              <a:srgbClr val="213163"/>
            </a:solidFill>
          </p:spPr>
        </p:sp>
        <p:sp>
          <p:nvSpPr>
            <p:cNvPr name="TextBox 15" id="15"/>
            <p:cNvSpPr txBox="true"/>
            <p:nvPr/>
          </p:nvSpPr>
          <p:spPr>
            <a:xfrm>
              <a:off x="0" y="-38100"/>
              <a:ext cx="4480924" cy="926645"/>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394545" y="1485471"/>
            <a:ext cx="8673255" cy="527771"/>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Problem Statement and Objectives </a:t>
            </a:r>
          </a:p>
        </p:txBody>
      </p:sp>
      <p:sp>
        <p:nvSpPr>
          <p:cNvPr name="TextBox 17" id="17"/>
          <p:cNvSpPr txBox="true"/>
          <p:nvPr/>
        </p:nvSpPr>
        <p:spPr>
          <a:xfrm rot="0">
            <a:off x="590272" y="2518067"/>
            <a:ext cx="16622055" cy="3552825"/>
          </a:xfrm>
          <a:prstGeom prst="rect">
            <a:avLst/>
          </a:prstGeom>
        </p:spPr>
        <p:txBody>
          <a:bodyPr anchor="t" rtlCol="false" tIns="0" lIns="0" bIns="0" rIns="0">
            <a:spAutoFit/>
          </a:bodyPr>
          <a:lstStyle/>
          <a:p>
            <a:pPr algn="just">
              <a:lnSpc>
                <a:spcPts val="3360"/>
              </a:lnSpc>
            </a:pPr>
            <a:r>
              <a:rPr lang="en-US" sz="2800" b="true">
                <a:solidFill>
                  <a:srgbClr val="FF3131"/>
                </a:solidFill>
                <a:latin typeface="Arial Bold"/>
                <a:ea typeface="Arial Bold"/>
                <a:cs typeface="Arial Bold"/>
                <a:sym typeface="Arial Bold"/>
              </a:rPr>
              <a:t>Problem statement:</a:t>
            </a:r>
          </a:p>
          <a:p>
            <a:pPr algn="just">
              <a:lnSpc>
                <a:spcPts val="3120"/>
              </a:lnSpc>
            </a:pPr>
          </a:p>
          <a:p>
            <a:pPr algn="just">
              <a:lnSpc>
                <a:spcPts val="3120"/>
              </a:lnSpc>
              <a:spcBef>
                <a:spcPct val="0"/>
              </a:spcBef>
            </a:pPr>
            <a:r>
              <a:rPr lang="en-US" sz="2600">
                <a:solidFill>
                  <a:srgbClr val="FFFFFF"/>
                </a:solidFill>
                <a:latin typeface="Arial"/>
                <a:ea typeface="Arial"/>
                <a:cs typeface="Arial"/>
                <a:sym typeface="Arial"/>
              </a:rPr>
              <a:t>In today’s world, energy consumption is increasing rapidly due to population growth, urbanizati</a:t>
            </a:r>
            <a:r>
              <a:rPr lang="en-US" sz="2600">
                <a:solidFill>
                  <a:srgbClr val="FFFFFF"/>
                </a:solidFill>
                <a:latin typeface="Arial"/>
                <a:ea typeface="Arial"/>
                <a:cs typeface="Arial"/>
                <a:sym typeface="Arial"/>
              </a:rPr>
              <a:t>on, and industrial expansion. However, most traditional energy management systems are inefficient, reactive, and lack predictive capabilities. They do not analyze past data effectively or provide intelligent recommendations to optimize energy usage.</a:t>
            </a:r>
          </a:p>
          <a:p>
            <a:pPr algn="just">
              <a:lnSpc>
                <a:spcPts val="3120"/>
              </a:lnSpc>
              <a:spcBef>
                <a:spcPct val="0"/>
              </a:spcBef>
            </a:pPr>
            <a:r>
              <a:rPr lang="en-US" sz="2600">
                <a:solidFill>
                  <a:srgbClr val="FFFFFF"/>
                </a:solidFill>
                <a:latin typeface="Arial"/>
                <a:ea typeface="Arial"/>
                <a:cs typeface="Arial"/>
                <a:sym typeface="Arial"/>
              </a:rPr>
              <a:t>This project aims to solve these problems using Artificial Intelligence techniques from Machine Learning and Deep Learning to build a smart and efficient energy management system.</a:t>
            </a:r>
          </a:p>
          <a:p>
            <a:pPr algn="just">
              <a:lnSpc>
                <a:spcPts val="3000"/>
              </a:lnSpc>
              <a:spcBef>
                <a:spcPct val="0"/>
              </a:spcBef>
            </a:pPr>
          </a:p>
        </p:txBody>
      </p:sp>
      <p:grpSp>
        <p:nvGrpSpPr>
          <p:cNvPr name="Group 18" id="18"/>
          <p:cNvGrpSpPr/>
          <p:nvPr/>
        </p:nvGrpSpPr>
        <p:grpSpPr>
          <a:xfrm rot="0">
            <a:off x="394545" y="6010669"/>
            <a:ext cx="17013510" cy="4006952"/>
            <a:chOff x="0" y="0"/>
            <a:chExt cx="4480924" cy="1055329"/>
          </a:xfrm>
        </p:grpSpPr>
        <p:sp>
          <p:nvSpPr>
            <p:cNvPr name="Freeform 19" id="19"/>
            <p:cNvSpPr/>
            <p:nvPr/>
          </p:nvSpPr>
          <p:spPr>
            <a:xfrm flipH="false" flipV="false" rot="0">
              <a:off x="0" y="0"/>
              <a:ext cx="4480925" cy="1055329"/>
            </a:xfrm>
            <a:custGeom>
              <a:avLst/>
              <a:gdLst/>
              <a:ahLst/>
              <a:cxnLst/>
              <a:rect r="r" b="b" t="t" l="l"/>
              <a:pathLst>
                <a:path h="1055329" w="4480925">
                  <a:moveTo>
                    <a:pt x="0" y="0"/>
                  </a:moveTo>
                  <a:lnTo>
                    <a:pt x="4480925" y="0"/>
                  </a:lnTo>
                  <a:lnTo>
                    <a:pt x="4480925" y="1055329"/>
                  </a:lnTo>
                  <a:lnTo>
                    <a:pt x="0" y="1055329"/>
                  </a:lnTo>
                  <a:close/>
                </a:path>
              </a:pathLst>
            </a:custGeom>
            <a:solidFill>
              <a:srgbClr val="213163"/>
            </a:solidFill>
          </p:spPr>
        </p:sp>
        <p:sp>
          <p:nvSpPr>
            <p:cNvPr name="TextBox 20" id="20"/>
            <p:cNvSpPr txBox="true"/>
            <p:nvPr/>
          </p:nvSpPr>
          <p:spPr>
            <a:xfrm>
              <a:off x="0" y="-38100"/>
              <a:ext cx="4480924" cy="1093429"/>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590272" y="6254343"/>
            <a:ext cx="16622055" cy="3538537"/>
          </a:xfrm>
          <a:prstGeom prst="rect">
            <a:avLst/>
          </a:prstGeom>
        </p:spPr>
        <p:txBody>
          <a:bodyPr anchor="t" rtlCol="false" tIns="0" lIns="0" bIns="0" rIns="0">
            <a:spAutoFit/>
          </a:bodyPr>
          <a:lstStyle/>
          <a:p>
            <a:pPr algn="just">
              <a:lnSpc>
                <a:spcPts val="3240"/>
              </a:lnSpc>
            </a:pPr>
            <a:r>
              <a:rPr lang="en-US" sz="2700" b="true">
                <a:solidFill>
                  <a:srgbClr val="FF3131"/>
                </a:solidFill>
                <a:latin typeface="Arial Bold"/>
                <a:ea typeface="Arial Bold"/>
                <a:cs typeface="Arial Bold"/>
                <a:sym typeface="Arial Bold"/>
              </a:rPr>
              <a:t>Objective:</a:t>
            </a:r>
          </a:p>
          <a:p>
            <a:pPr algn="just">
              <a:lnSpc>
                <a:spcPts val="3000"/>
              </a:lnSpc>
            </a:pPr>
          </a:p>
          <a:p>
            <a:pPr algn="just" marL="539753" indent="-269876" lvl="1">
              <a:lnSpc>
                <a:spcPts val="3075"/>
              </a:lnSpc>
              <a:buFont typeface="Arial"/>
              <a:buChar char="•"/>
            </a:pPr>
            <a:r>
              <a:rPr lang="en-US" sz="2500" spc="40">
                <a:solidFill>
                  <a:srgbClr val="FFFFFF"/>
                </a:solidFill>
                <a:latin typeface="Arial"/>
                <a:ea typeface="Arial"/>
                <a:cs typeface="Arial"/>
                <a:sym typeface="Arial"/>
              </a:rPr>
              <a:t>To predict future energy consumption using AI models</a:t>
            </a:r>
          </a:p>
          <a:p>
            <a:pPr algn="just" marL="539753" indent="-269876" lvl="1">
              <a:lnSpc>
                <a:spcPts val="3075"/>
              </a:lnSpc>
              <a:buFont typeface="Arial"/>
              <a:buChar char="•"/>
            </a:pPr>
            <a:r>
              <a:rPr lang="en-US" sz="2500" spc="40">
                <a:solidFill>
                  <a:srgbClr val="FFFFFF"/>
                </a:solidFill>
                <a:latin typeface="Arial"/>
                <a:ea typeface="Arial"/>
                <a:cs typeface="Arial"/>
                <a:sym typeface="Arial"/>
              </a:rPr>
              <a:t>To analyze historical</a:t>
            </a:r>
            <a:r>
              <a:rPr lang="en-US" sz="2500" spc="40">
                <a:solidFill>
                  <a:srgbClr val="FFFFFF"/>
                </a:solidFill>
                <a:latin typeface="Arial"/>
                <a:ea typeface="Arial"/>
                <a:cs typeface="Arial"/>
                <a:sym typeface="Arial"/>
              </a:rPr>
              <a:t> energy usage patterns</a:t>
            </a:r>
          </a:p>
          <a:p>
            <a:pPr algn="just" marL="539753" indent="-269876" lvl="1">
              <a:lnSpc>
                <a:spcPts val="3075"/>
              </a:lnSpc>
              <a:buFont typeface="Arial"/>
              <a:buChar char="•"/>
            </a:pPr>
            <a:r>
              <a:rPr lang="en-US" sz="2500" spc="40">
                <a:solidFill>
                  <a:srgbClr val="FFFFFF"/>
                </a:solidFill>
                <a:latin typeface="Arial"/>
                <a:ea typeface="Arial"/>
                <a:cs typeface="Arial"/>
                <a:sym typeface="Arial"/>
              </a:rPr>
              <a:t>To optimize energy consumption and reduce wastage</a:t>
            </a:r>
          </a:p>
          <a:p>
            <a:pPr algn="just" marL="539753" indent="-269876" lvl="1">
              <a:lnSpc>
                <a:spcPts val="3075"/>
              </a:lnSpc>
              <a:buFont typeface="Arial"/>
              <a:buChar char="•"/>
            </a:pPr>
            <a:r>
              <a:rPr lang="en-US" sz="2500" spc="40">
                <a:solidFill>
                  <a:srgbClr val="FFFFFF"/>
                </a:solidFill>
                <a:latin typeface="Arial"/>
                <a:ea typeface="Arial"/>
                <a:cs typeface="Arial"/>
                <a:sym typeface="Arial"/>
              </a:rPr>
              <a:t>To minimize electricity cost</a:t>
            </a:r>
          </a:p>
          <a:p>
            <a:pPr algn="just" marL="539753" indent="-269876" lvl="1">
              <a:lnSpc>
                <a:spcPts val="3075"/>
              </a:lnSpc>
              <a:buFont typeface="Arial"/>
              <a:buChar char="•"/>
            </a:pPr>
            <a:r>
              <a:rPr lang="en-US" sz="2500" spc="40">
                <a:solidFill>
                  <a:srgbClr val="FFFFFF"/>
                </a:solidFill>
                <a:latin typeface="Arial"/>
                <a:ea typeface="Arial"/>
                <a:cs typeface="Arial"/>
                <a:sym typeface="Arial"/>
              </a:rPr>
              <a:t>To identify peak energy usage periods</a:t>
            </a:r>
          </a:p>
          <a:p>
            <a:pPr algn="just" marL="539753" indent="-269876" lvl="1">
              <a:lnSpc>
                <a:spcPts val="3075"/>
              </a:lnSpc>
              <a:buFont typeface="Arial"/>
              <a:buChar char="•"/>
            </a:pPr>
            <a:r>
              <a:rPr lang="en-US" sz="2500" spc="40">
                <a:solidFill>
                  <a:srgbClr val="FFFFFF"/>
                </a:solidFill>
                <a:latin typeface="Arial"/>
                <a:ea typeface="Arial"/>
                <a:cs typeface="Arial"/>
                <a:sym typeface="Arial"/>
              </a:rPr>
              <a:t>To provide smart recommendations for efficient usage</a:t>
            </a:r>
          </a:p>
          <a:p>
            <a:pPr algn="just" marL="539753" indent="-269876" lvl="1">
              <a:lnSpc>
                <a:spcPts val="3075"/>
              </a:lnSpc>
              <a:buFont typeface="Arial"/>
              <a:buChar char="•"/>
            </a:pPr>
            <a:r>
              <a:rPr lang="en-US" sz="2500" spc="40">
                <a:solidFill>
                  <a:srgbClr val="FFFFFF"/>
                </a:solidFill>
                <a:latin typeface="Arial"/>
                <a:ea typeface="Arial"/>
                <a:cs typeface="Arial"/>
                <a:sym typeface="Arial"/>
              </a:rPr>
              <a:t>To develop a user-friendly monitoring dashboard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Project Overview - Introduction</a:t>
            </a:r>
          </a:p>
        </p:txBody>
      </p:sp>
      <p:grpSp>
        <p:nvGrpSpPr>
          <p:cNvPr name="Group 14" id="14"/>
          <p:cNvGrpSpPr/>
          <p:nvPr/>
        </p:nvGrpSpPr>
        <p:grpSpPr>
          <a:xfrm rot="0">
            <a:off x="394545" y="2347914"/>
            <a:ext cx="17493405" cy="2123716"/>
            <a:chOff x="0" y="0"/>
            <a:chExt cx="4607317" cy="559333"/>
          </a:xfrm>
        </p:grpSpPr>
        <p:sp>
          <p:nvSpPr>
            <p:cNvPr name="Freeform 15" id="15"/>
            <p:cNvSpPr/>
            <p:nvPr/>
          </p:nvSpPr>
          <p:spPr>
            <a:xfrm flipH="false" flipV="false" rot="0">
              <a:off x="0" y="0"/>
              <a:ext cx="4607317" cy="559333"/>
            </a:xfrm>
            <a:custGeom>
              <a:avLst/>
              <a:gdLst/>
              <a:ahLst/>
              <a:cxnLst/>
              <a:rect r="r" b="b" t="t" l="l"/>
              <a:pathLst>
                <a:path h="559333" w="4607317">
                  <a:moveTo>
                    <a:pt x="0" y="0"/>
                  </a:moveTo>
                  <a:lnTo>
                    <a:pt x="4607317" y="0"/>
                  </a:lnTo>
                  <a:lnTo>
                    <a:pt x="4607317" y="559333"/>
                  </a:lnTo>
                  <a:lnTo>
                    <a:pt x="0" y="559333"/>
                  </a:lnTo>
                  <a:close/>
                </a:path>
              </a:pathLst>
            </a:custGeom>
            <a:solidFill>
              <a:srgbClr val="213163"/>
            </a:solidFill>
          </p:spPr>
        </p:sp>
        <p:sp>
          <p:nvSpPr>
            <p:cNvPr name="TextBox 16" id="16"/>
            <p:cNvSpPr txBox="true"/>
            <p:nvPr/>
          </p:nvSpPr>
          <p:spPr>
            <a:xfrm>
              <a:off x="0" y="-47625"/>
              <a:ext cx="4607317" cy="606958"/>
            </a:xfrm>
            <a:prstGeom prst="rect">
              <a:avLst/>
            </a:prstGeom>
          </p:spPr>
          <p:txBody>
            <a:bodyPr anchor="ctr" rtlCol="false" tIns="50800" lIns="50800" bIns="50800" rIns="50800"/>
            <a:lstStyle/>
            <a:p>
              <a:pPr algn="just">
                <a:lnSpc>
                  <a:spcPts val="3219"/>
                </a:lnSpc>
              </a:pPr>
            </a:p>
            <a:p>
              <a:pPr algn="just">
                <a:lnSpc>
                  <a:spcPts val="3219"/>
                </a:lnSpc>
              </a:pPr>
              <a:r>
                <a:rPr lang="en-US" sz="2299">
                  <a:solidFill>
                    <a:srgbClr val="FFFFFF"/>
                  </a:solidFill>
                  <a:latin typeface="Canva Sans"/>
                  <a:ea typeface="Canva Sans"/>
                  <a:cs typeface="Canva Sans"/>
                  <a:sym typeface="Canva Sans"/>
                </a:rPr>
                <a:t>The AI-Based Energy Consumption Prediction and Optimization System is designed to address this challenge by using advanced techniques from Machine Learning and Deep Learning. The system analyzes historical energy consumption data along with external factors such as time and weather conditions to predict future energy usage accurately.</a:t>
              </a:r>
            </a:p>
            <a:p>
              <a:pPr algn="just">
                <a:lnSpc>
                  <a:spcPts val="3219"/>
                </a:lnSpc>
                <a:spcBef>
                  <a:spcPct val="0"/>
                </a:spcBef>
              </a:pPr>
            </a:p>
          </p:txBody>
        </p:sp>
      </p:grpSp>
      <p:grpSp>
        <p:nvGrpSpPr>
          <p:cNvPr name="Group 17" id="17"/>
          <p:cNvGrpSpPr/>
          <p:nvPr/>
        </p:nvGrpSpPr>
        <p:grpSpPr>
          <a:xfrm rot="0">
            <a:off x="387401" y="4614716"/>
            <a:ext cx="6984949" cy="2523766"/>
            <a:chOff x="0" y="0"/>
            <a:chExt cx="1839657" cy="664696"/>
          </a:xfrm>
        </p:grpSpPr>
        <p:sp>
          <p:nvSpPr>
            <p:cNvPr name="Freeform 18" id="18"/>
            <p:cNvSpPr/>
            <p:nvPr/>
          </p:nvSpPr>
          <p:spPr>
            <a:xfrm flipH="false" flipV="false" rot="0">
              <a:off x="0" y="0"/>
              <a:ext cx="1839657" cy="664696"/>
            </a:xfrm>
            <a:custGeom>
              <a:avLst/>
              <a:gdLst/>
              <a:ahLst/>
              <a:cxnLst/>
              <a:rect r="r" b="b" t="t" l="l"/>
              <a:pathLst>
                <a:path h="664696" w="1839657">
                  <a:moveTo>
                    <a:pt x="0" y="0"/>
                  </a:moveTo>
                  <a:lnTo>
                    <a:pt x="1839657" y="0"/>
                  </a:lnTo>
                  <a:lnTo>
                    <a:pt x="1839657" y="664696"/>
                  </a:lnTo>
                  <a:lnTo>
                    <a:pt x="0" y="664696"/>
                  </a:lnTo>
                  <a:close/>
                </a:path>
              </a:pathLst>
            </a:custGeom>
            <a:solidFill>
              <a:srgbClr val="213163"/>
            </a:solidFill>
          </p:spPr>
        </p:sp>
        <p:sp>
          <p:nvSpPr>
            <p:cNvPr name="TextBox 19" id="19"/>
            <p:cNvSpPr txBox="true"/>
            <p:nvPr/>
          </p:nvSpPr>
          <p:spPr>
            <a:xfrm>
              <a:off x="0" y="-47625"/>
              <a:ext cx="1839657" cy="712321"/>
            </a:xfrm>
            <a:prstGeom prst="rect">
              <a:avLst/>
            </a:prstGeom>
          </p:spPr>
          <p:txBody>
            <a:bodyPr anchor="ctr" rtlCol="false" tIns="50800" lIns="50800" bIns="50800" rIns="50800"/>
            <a:lstStyle/>
            <a:p>
              <a:pPr algn="just">
                <a:lnSpc>
                  <a:spcPts val="3219"/>
                </a:lnSpc>
              </a:pPr>
              <a:r>
                <a:rPr lang="en-US" sz="2299">
                  <a:solidFill>
                    <a:srgbClr val="FF3131"/>
                  </a:solidFill>
                  <a:latin typeface="Canva Sans"/>
                  <a:ea typeface="Canva Sans"/>
                  <a:cs typeface="Canva Sans"/>
                  <a:sym typeface="Canva Sans"/>
                </a:rPr>
                <a:t>⚡ </a:t>
              </a:r>
              <a:r>
                <a:rPr lang="en-US" sz="2299">
                  <a:solidFill>
                    <a:srgbClr val="FF3131"/>
                  </a:solidFill>
                  <a:latin typeface="Canva Sans"/>
                  <a:ea typeface="Canva Sans"/>
                  <a:cs typeface="Canva Sans"/>
                  <a:sym typeface="Canva Sans"/>
                </a:rPr>
                <a:t>The Problem</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Energy is wasted daily due to poor management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No system to predict future consumption</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High electricity bills &amp; peak load issues</a:t>
              </a:r>
            </a:p>
            <a:p>
              <a:pPr algn="just">
                <a:lnSpc>
                  <a:spcPts val="3219"/>
                </a:lnSpc>
                <a:spcBef>
                  <a:spcPct val="0"/>
                </a:spcBef>
              </a:pPr>
            </a:p>
          </p:txBody>
        </p:sp>
      </p:grpSp>
      <p:grpSp>
        <p:nvGrpSpPr>
          <p:cNvPr name="Group 20" id="20"/>
          <p:cNvGrpSpPr/>
          <p:nvPr/>
        </p:nvGrpSpPr>
        <p:grpSpPr>
          <a:xfrm rot="0">
            <a:off x="387401" y="7281569"/>
            <a:ext cx="6984949" cy="2123716"/>
            <a:chOff x="0" y="0"/>
            <a:chExt cx="1839657" cy="559333"/>
          </a:xfrm>
        </p:grpSpPr>
        <p:sp>
          <p:nvSpPr>
            <p:cNvPr name="Freeform 21" id="21"/>
            <p:cNvSpPr/>
            <p:nvPr/>
          </p:nvSpPr>
          <p:spPr>
            <a:xfrm flipH="false" flipV="false" rot="0">
              <a:off x="0" y="0"/>
              <a:ext cx="1839657" cy="559333"/>
            </a:xfrm>
            <a:custGeom>
              <a:avLst/>
              <a:gdLst/>
              <a:ahLst/>
              <a:cxnLst/>
              <a:rect r="r" b="b" t="t" l="l"/>
              <a:pathLst>
                <a:path h="559333" w="1839657">
                  <a:moveTo>
                    <a:pt x="0" y="0"/>
                  </a:moveTo>
                  <a:lnTo>
                    <a:pt x="1839657" y="0"/>
                  </a:lnTo>
                  <a:lnTo>
                    <a:pt x="1839657" y="559333"/>
                  </a:lnTo>
                  <a:lnTo>
                    <a:pt x="0" y="559333"/>
                  </a:lnTo>
                  <a:close/>
                </a:path>
              </a:pathLst>
            </a:custGeom>
            <a:solidFill>
              <a:srgbClr val="213163"/>
            </a:solidFill>
          </p:spPr>
        </p:sp>
        <p:sp>
          <p:nvSpPr>
            <p:cNvPr name="TextBox 22" id="22"/>
            <p:cNvSpPr txBox="true"/>
            <p:nvPr/>
          </p:nvSpPr>
          <p:spPr>
            <a:xfrm>
              <a:off x="0" y="-47625"/>
              <a:ext cx="1839657" cy="606958"/>
            </a:xfrm>
            <a:prstGeom prst="rect">
              <a:avLst/>
            </a:prstGeom>
          </p:spPr>
          <p:txBody>
            <a:bodyPr anchor="ctr" rtlCol="false" tIns="50800" lIns="50800" bIns="50800" rIns="50800"/>
            <a:lstStyle/>
            <a:p>
              <a:pPr algn="just">
                <a:lnSpc>
                  <a:spcPts val="3219"/>
                </a:lnSpc>
              </a:pPr>
              <a:r>
                <a:rPr lang="en-US" sz="2299">
                  <a:solidFill>
                    <a:srgbClr val="FF3131"/>
                  </a:solidFill>
                  <a:latin typeface="Canva Sans"/>
                  <a:ea typeface="Canva Sans"/>
                  <a:cs typeface="Canva Sans"/>
                  <a:sym typeface="Canva Sans"/>
                </a:rPr>
                <a:t>🤖 </a:t>
              </a:r>
              <a:r>
                <a:rPr lang="en-US" sz="2299">
                  <a:solidFill>
                    <a:srgbClr val="FF3131"/>
                  </a:solidFill>
                  <a:latin typeface="Canva Sans"/>
                  <a:ea typeface="Canva Sans"/>
                  <a:cs typeface="Canva Sans"/>
                  <a:sym typeface="Canva Sans"/>
                </a:rPr>
                <a:t>The Idea</a:t>
              </a:r>
            </a:p>
            <a:p>
              <a:pPr algn="l">
                <a:lnSpc>
                  <a:spcPts val="3219"/>
                </a:lnSpc>
              </a:pPr>
              <a:r>
                <a:rPr lang="en-US" sz="2299">
                  <a:solidFill>
                    <a:srgbClr val="FFFFFF"/>
                  </a:solidFill>
                  <a:latin typeface="Canva Sans"/>
                  <a:ea typeface="Canva Sans"/>
                  <a:cs typeface="Canva Sans"/>
                  <a:sym typeface="Canva Sans"/>
                </a:rPr>
                <a:t> </a:t>
              </a:r>
              <a:r>
                <a:rPr lang="en-US" sz="2299">
                  <a:solidFill>
                    <a:srgbClr val="FFFFFF"/>
                  </a:solidFill>
                  <a:latin typeface="Canva Sans"/>
                  <a:ea typeface="Canva Sans"/>
                  <a:cs typeface="Canva Sans"/>
                  <a:sym typeface="Canva Sans"/>
                </a:rPr>
                <a:t>Build an intelligent system using</a:t>
              </a:r>
            </a:p>
            <a:p>
              <a:pPr algn="l">
                <a:lnSpc>
                  <a:spcPts val="3219"/>
                </a:lnSpc>
              </a:pPr>
              <a:r>
                <a:rPr lang="en-US" sz="2299">
                  <a:solidFill>
                    <a:srgbClr val="FFFFFF"/>
                  </a:solidFill>
                  <a:latin typeface="Canva Sans"/>
                  <a:ea typeface="Canva Sans"/>
                  <a:cs typeface="Canva Sans"/>
                  <a:sym typeface="Canva Sans"/>
                </a:rPr>
                <a:t>Machine Learning + Deep Learning</a:t>
              </a:r>
            </a:p>
            <a:p>
              <a:pPr algn="l">
                <a:lnSpc>
                  <a:spcPts val="3219"/>
                </a:lnSpc>
              </a:pPr>
              <a:r>
                <a:rPr lang="en-US" sz="2299">
                  <a:solidFill>
                    <a:srgbClr val="FFFFFF"/>
                  </a:solidFill>
                  <a:latin typeface="Canva Sans"/>
                  <a:ea typeface="Canva Sans"/>
                  <a:cs typeface="Canva Sans"/>
                  <a:sym typeface="Canva Sans"/>
                </a:rPr>
                <a:t>to make energy usage smart and efficient</a:t>
              </a:r>
            </a:p>
            <a:p>
              <a:pPr algn="just">
                <a:lnSpc>
                  <a:spcPts val="3219"/>
                </a:lnSpc>
                <a:spcBef>
                  <a:spcPct val="0"/>
                </a:spcBef>
              </a:pPr>
            </a:p>
          </p:txBody>
        </p:sp>
      </p:grpSp>
      <p:grpSp>
        <p:nvGrpSpPr>
          <p:cNvPr name="Group 23" id="23"/>
          <p:cNvGrpSpPr/>
          <p:nvPr/>
        </p:nvGrpSpPr>
        <p:grpSpPr>
          <a:xfrm rot="0">
            <a:off x="7685548" y="4614716"/>
            <a:ext cx="7073440" cy="2523766"/>
            <a:chOff x="0" y="0"/>
            <a:chExt cx="1862964" cy="664696"/>
          </a:xfrm>
        </p:grpSpPr>
        <p:sp>
          <p:nvSpPr>
            <p:cNvPr name="Freeform 24" id="24"/>
            <p:cNvSpPr/>
            <p:nvPr/>
          </p:nvSpPr>
          <p:spPr>
            <a:xfrm flipH="false" flipV="false" rot="0">
              <a:off x="0" y="0"/>
              <a:ext cx="1862964" cy="664696"/>
            </a:xfrm>
            <a:custGeom>
              <a:avLst/>
              <a:gdLst/>
              <a:ahLst/>
              <a:cxnLst/>
              <a:rect r="r" b="b" t="t" l="l"/>
              <a:pathLst>
                <a:path h="664696" w="1862964">
                  <a:moveTo>
                    <a:pt x="0" y="0"/>
                  </a:moveTo>
                  <a:lnTo>
                    <a:pt x="1862964" y="0"/>
                  </a:lnTo>
                  <a:lnTo>
                    <a:pt x="1862964" y="664696"/>
                  </a:lnTo>
                  <a:lnTo>
                    <a:pt x="0" y="664696"/>
                  </a:lnTo>
                  <a:close/>
                </a:path>
              </a:pathLst>
            </a:custGeom>
            <a:solidFill>
              <a:srgbClr val="213163"/>
            </a:solidFill>
          </p:spPr>
        </p:sp>
        <p:sp>
          <p:nvSpPr>
            <p:cNvPr name="TextBox 25" id="25"/>
            <p:cNvSpPr txBox="true"/>
            <p:nvPr/>
          </p:nvSpPr>
          <p:spPr>
            <a:xfrm>
              <a:off x="0" y="-47625"/>
              <a:ext cx="1862964" cy="712321"/>
            </a:xfrm>
            <a:prstGeom prst="rect">
              <a:avLst/>
            </a:prstGeom>
          </p:spPr>
          <p:txBody>
            <a:bodyPr anchor="ctr" rtlCol="false" tIns="50800" lIns="50800" bIns="50800" rIns="50800"/>
            <a:lstStyle/>
            <a:p>
              <a:pPr algn="just">
                <a:lnSpc>
                  <a:spcPts val="3219"/>
                </a:lnSpc>
              </a:pPr>
              <a:r>
                <a:rPr lang="en-US" sz="2299">
                  <a:solidFill>
                    <a:srgbClr val="FF3131"/>
                  </a:solidFill>
                  <a:latin typeface="Canva Sans"/>
                  <a:ea typeface="Canva Sans"/>
                  <a:cs typeface="Canva Sans"/>
                  <a:sym typeface="Canva Sans"/>
                </a:rPr>
                <a:t>🔍 W</a:t>
              </a:r>
              <a:r>
                <a:rPr lang="en-US" sz="2299">
                  <a:solidFill>
                    <a:srgbClr val="FF3131"/>
                  </a:solidFill>
                  <a:latin typeface="Canva Sans"/>
                  <a:ea typeface="Canva Sans"/>
                  <a:cs typeface="Canva Sans"/>
                  <a:sym typeface="Canva Sans"/>
                </a:rPr>
                <a:t>hat This System Does</a:t>
              </a:r>
            </a:p>
            <a:p>
              <a:pPr algn="just" marL="496567" indent="-248284" lvl="1">
                <a:lnSpc>
                  <a:spcPts val="3219"/>
                </a:lnSpc>
                <a:buFont typeface="Arial"/>
                <a:buChar char="•"/>
              </a:pPr>
              <a:r>
                <a:rPr lang="en-US" sz="2299">
                  <a:solidFill>
                    <a:srgbClr val="FF3131"/>
                  </a:solidFill>
                  <a:latin typeface="Canva Sans"/>
                  <a:ea typeface="Canva Sans"/>
                  <a:cs typeface="Canva Sans"/>
                  <a:sym typeface="Canva Sans"/>
                </a:rPr>
                <a:t>📊 </a:t>
              </a:r>
              <a:r>
                <a:rPr lang="en-US" sz="2299">
                  <a:solidFill>
                    <a:srgbClr val="FFFFFF"/>
                  </a:solidFill>
                  <a:latin typeface="Canva Sans"/>
                  <a:ea typeface="Canva Sans"/>
                  <a:cs typeface="Canva Sans"/>
                  <a:sym typeface="Canva Sans"/>
                </a:rPr>
                <a:t>Analyzes past energy usage</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a:t>
              </a:r>
              <a:r>
                <a:rPr lang="en-US" sz="2299">
                  <a:solidFill>
                    <a:srgbClr val="FFFFFF"/>
                  </a:solidFill>
                  <a:latin typeface="Canva Sans"/>
                  <a:ea typeface="Canva Sans"/>
                  <a:cs typeface="Canva Sans"/>
                  <a:sym typeface="Canva Sans"/>
                </a:rPr>
                <a:t> Predicts future consumption</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 Opt</a:t>
              </a:r>
              <a:r>
                <a:rPr lang="en-US" sz="2299">
                  <a:solidFill>
                    <a:srgbClr val="FFFFFF"/>
                  </a:solidFill>
                  <a:latin typeface="Canva Sans"/>
                  <a:ea typeface="Canva Sans"/>
                  <a:cs typeface="Canva Sans"/>
                  <a:sym typeface="Canva Sans"/>
                </a:rPr>
                <a:t>imizes electricity usage automatically</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 Suggests smart energy-saving actions</a:t>
              </a:r>
            </a:p>
            <a:p>
              <a:pPr algn="just">
                <a:lnSpc>
                  <a:spcPts val="3219"/>
                </a:lnSpc>
                <a:spcBef>
                  <a:spcPct val="0"/>
                </a:spcBef>
              </a:pPr>
            </a:p>
          </p:txBody>
        </p:sp>
      </p:grpSp>
      <p:grpSp>
        <p:nvGrpSpPr>
          <p:cNvPr name="Group 26" id="26"/>
          <p:cNvGrpSpPr/>
          <p:nvPr/>
        </p:nvGrpSpPr>
        <p:grpSpPr>
          <a:xfrm rot="0">
            <a:off x="7685548" y="7281358"/>
            <a:ext cx="7073440" cy="2561914"/>
            <a:chOff x="0" y="0"/>
            <a:chExt cx="1862964" cy="674743"/>
          </a:xfrm>
        </p:grpSpPr>
        <p:sp>
          <p:nvSpPr>
            <p:cNvPr name="Freeform 27" id="27"/>
            <p:cNvSpPr/>
            <p:nvPr/>
          </p:nvSpPr>
          <p:spPr>
            <a:xfrm flipH="false" flipV="false" rot="0">
              <a:off x="0" y="0"/>
              <a:ext cx="1862964" cy="674743"/>
            </a:xfrm>
            <a:custGeom>
              <a:avLst/>
              <a:gdLst/>
              <a:ahLst/>
              <a:cxnLst/>
              <a:rect r="r" b="b" t="t" l="l"/>
              <a:pathLst>
                <a:path h="674743" w="1862964">
                  <a:moveTo>
                    <a:pt x="0" y="0"/>
                  </a:moveTo>
                  <a:lnTo>
                    <a:pt x="1862964" y="0"/>
                  </a:lnTo>
                  <a:lnTo>
                    <a:pt x="1862964" y="674743"/>
                  </a:lnTo>
                  <a:lnTo>
                    <a:pt x="0" y="674743"/>
                  </a:lnTo>
                  <a:close/>
                </a:path>
              </a:pathLst>
            </a:custGeom>
            <a:solidFill>
              <a:srgbClr val="213163"/>
            </a:solidFill>
          </p:spPr>
        </p:sp>
        <p:sp>
          <p:nvSpPr>
            <p:cNvPr name="TextBox 28" id="28"/>
            <p:cNvSpPr txBox="true"/>
            <p:nvPr/>
          </p:nvSpPr>
          <p:spPr>
            <a:xfrm>
              <a:off x="0" y="-47625"/>
              <a:ext cx="1862964" cy="722368"/>
            </a:xfrm>
            <a:prstGeom prst="rect">
              <a:avLst/>
            </a:prstGeom>
          </p:spPr>
          <p:txBody>
            <a:bodyPr anchor="ctr" rtlCol="false" tIns="50800" lIns="50800" bIns="50800" rIns="50800"/>
            <a:lstStyle/>
            <a:p>
              <a:pPr algn="just">
                <a:lnSpc>
                  <a:spcPts val="3219"/>
                </a:lnSpc>
              </a:pPr>
              <a:r>
                <a:rPr lang="en-US" sz="2299">
                  <a:solidFill>
                    <a:srgbClr val="FF3131"/>
                  </a:solidFill>
                  <a:latin typeface="Canva Sans"/>
                  <a:ea typeface="Canva Sans"/>
                  <a:cs typeface="Canva Sans"/>
                  <a:sym typeface="Canva Sans"/>
                </a:rPr>
                <a:t>🚀 Why </a:t>
              </a:r>
              <a:r>
                <a:rPr lang="en-US" sz="2299">
                  <a:solidFill>
                    <a:srgbClr val="FF3131"/>
                  </a:solidFill>
                  <a:latin typeface="Canva Sans"/>
                  <a:ea typeface="Canva Sans"/>
                  <a:cs typeface="Canva Sans"/>
                  <a:sym typeface="Canva Sans"/>
                </a:rPr>
                <a:t>This Project</a:t>
              </a:r>
              <a:r>
                <a:rPr lang="en-US" sz="2299">
                  <a:solidFill>
                    <a:srgbClr val="FF3131"/>
                  </a:solidFill>
                  <a:latin typeface="Canva Sans"/>
                  <a:ea typeface="Canva Sans"/>
                  <a:cs typeface="Canva Sans"/>
                  <a:sym typeface="Canva Sans"/>
                </a:rPr>
                <a:t> </a:t>
              </a:r>
              <a:r>
                <a:rPr lang="en-US" sz="2299">
                  <a:solidFill>
                    <a:srgbClr val="FF3131"/>
                  </a:solidFill>
                  <a:latin typeface="Canva Sans"/>
                  <a:ea typeface="Canva Sans"/>
                  <a:cs typeface="Canva Sans"/>
                  <a:sym typeface="Canva Sans"/>
                </a:rPr>
                <a:t>is Unique</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Combines AI + Energy Management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Works like a “Smart Energy Assistant”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Can be used in homes, industries &amp; smart cities</a:t>
              </a:r>
            </a:p>
            <a:p>
              <a:pPr algn="just">
                <a:lnSpc>
                  <a:spcPts val="3219"/>
                </a:lnSpc>
                <a:spcBef>
                  <a:spcPct val="0"/>
                </a:spcBef>
              </a:pPr>
            </a:p>
          </p:txBody>
        </p:sp>
      </p:grpSp>
      <p:grpSp>
        <p:nvGrpSpPr>
          <p:cNvPr name="Group 29" id="29"/>
          <p:cNvGrpSpPr/>
          <p:nvPr/>
        </p:nvGrpSpPr>
        <p:grpSpPr>
          <a:xfrm rot="0">
            <a:off x="15001875" y="5076237"/>
            <a:ext cx="3043280" cy="4410663"/>
            <a:chOff x="0" y="0"/>
            <a:chExt cx="801522" cy="1161656"/>
          </a:xfrm>
        </p:grpSpPr>
        <p:sp>
          <p:nvSpPr>
            <p:cNvPr name="Freeform 30" id="30"/>
            <p:cNvSpPr/>
            <p:nvPr/>
          </p:nvSpPr>
          <p:spPr>
            <a:xfrm flipH="false" flipV="false" rot="0">
              <a:off x="0" y="0"/>
              <a:ext cx="801522" cy="1161656"/>
            </a:xfrm>
            <a:custGeom>
              <a:avLst/>
              <a:gdLst/>
              <a:ahLst/>
              <a:cxnLst/>
              <a:rect r="r" b="b" t="t" l="l"/>
              <a:pathLst>
                <a:path h="1161656" w="801522">
                  <a:moveTo>
                    <a:pt x="0" y="0"/>
                  </a:moveTo>
                  <a:lnTo>
                    <a:pt x="801522" y="0"/>
                  </a:lnTo>
                  <a:lnTo>
                    <a:pt x="801522" y="1161656"/>
                  </a:lnTo>
                  <a:lnTo>
                    <a:pt x="0" y="1161656"/>
                  </a:lnTo>
                  <a:close/>
                </a:path>
              </a:pathLst>
            </a:custGeom>
            <a:solidFill>
              <a:srgbClr val="213163"/>
            </a:solidFill>
          </p:spPr>
        </p:sp>
        <p:sp>
          <p:nvSpPr>
            <p:cNvPr name="TextBox 31" id="31"/>
            <p:cNvSpPr txBox="true"/>
            <p:nvPr/>
          </p:nvSpPr>
          <p:spPr>
            <a:xfrm>
              <a:off x="0" y="-38100"/>
              <a:ext cx="801522" cy="1199756"/>
            </a:xfrm>
            <a:prstGeom prst="rect">
              <a:avLst/>
            </a:prstGeom>
          </p:spPr>
          <p:txBody>
            <a:bodyPr anchor="ctr" rtlCol="false" tIns="50800" lIns="50800" bIns="50800" rIns="50800"/>
            <a:lstStyle/>
            <a:p>
              <a:pPr algn="l">
                <a:lnSpc>
                  <a:spcPts val="2939"/>
                </a:lnSpc>
              </a:pPr>
              <a:r>
                <a:rPr lang="en-US" sz="2099">
                  <a:solidFill>
                    <a:srgbClr val="FF3131"/>
                  </a:solidFill>
                  <a:latin typeface="Canva Sans"/>
                  <a:ea typeface="Canva Sans"/>
                  <a:cs typeface="Canva Sans"/>
                  <a:sym typeface="Canva Sans"/>
                </a:rPr>
                <a:t>🌱</a:t>
              </a:r>
              <a:r>
                <a:rPr lang="en-US" sz="2099">
                  <a:solidFill>
                    <a:srgbClr val="FF3131"/>
                  </a:solidFill>
                  <a:latin typeface="Canva Sans"/>
                  <a:ea typeface="Canva Sans"/>
                  <a:cs typeface="Canva Sans"/>
                  <a:sym typeface="Canva Sans"/>
                </a:rPr>
                <a:t> Impact</a:t>
              </a:r>
            </a:p>
            <a:p>
              <a:pPr algn="l" marL="453388" indent="-226694" lvl="1">
                <a:lnSpc>
                  <a:spcPts val="2939"/>
                </a:lnSpc>
                <a:buFont typeface="Arial"/>
                <a:buChar char="•"/>
              </a:pPr>
              <a:r>
                <a:rPr lang="en-US" sz="2099">
                  <a:solidFill>
                    <a:srgbClr val="FFFFFF"/>
                  </a:solidFill>
                  <a:latin typeface="Canva Sans"/>
                  <a:ea typeface="Canva Sans"/>
                  <a:cs typeface="Canva Sans"/>
                  <a:sym typeface="Canva Sans"/>
                </a:rPr>
                <a:t>Red</a:t>
              </a:r>
              <a:r>
                <a:rPr lang="en-US" sz="2099">
                  <a:solidFill>
                    <a:srgbClr val="FFFFFF"/>
                  </a:solidFill>
                  <a:latin typeface="Canva Sans"/>
                  <a:ea typeface="Canva Sans"/>
                  <a:cs typeface="Canva Sans"/>
                  <a:sym typeface="Canva Sans"/>
                </a:rPr>
                <a:t>uce electricity bills</a:t>
              </a:r>
            </a:p>
            <a:p>
              <a:pPr algn="l" marL="453388" indent="-226694" lvl="1">
                <a:lnSpc>
                  <a:spcPts val="2939"/>
                </a:lnSpc>
                <a:buFont typeface="Arial"/>
                <a:buChar char="•"/>
              </a:pPr>
              <a:r>
                <a:rPr lang="en-US" sz="2099">
                  <a:solidFill>
                    <a:srgbClr val="FFFFFF"/>
                  </a:solidFill>
                  <a:latin typeface="Canva Sans"/>
                  <a:ea typeface="Canva Sans"/>
                  <a:cs typeface="Canva Sans"/>
                  <a:sym typeface="Canva Sans"/>
                </a:rPr>
                <a:t>Improve  energy efficiency</a:t>
              </a:r>
            </a:p>
            <a:p>
              <a:pPr algn="l" marL="453388" indent="-226694" lvl="1">
                <a:lnSpc>
                  <a:spcPts val="2939"/>
                </a:lnSpc>
                <a:buFont typeface="Arial"/>
                <a:buChar char="•"/>
              </a:pPr>
              <a:r>
                <a:rPr lang="en-US" sz="2099">
                  <a:solidFill>
                    <a:srgbClr val="FFFFFF"/>
                  </a:solidFill>
                  <a:latin typeface="Canva Sans"/>
                  <a:ea typeface="Canva Sans"/>
                  <a:cs typeface="Canva Sans"/>
                  <a:sym typeface="Canva Sans"/>
                </a:rPr>
                <a:t>Support sustainable environment</a:t>
              </a:r>
            </a:p>
            <a:p>
              <a:pPr algn="l">
                <a:lnSpc>
                  <a:spcPts val="293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Da</a:t>
            </a:r>
            <a:r>
              <a:rPr lang="en-US" sz="3000" b="true">
                <a:solidFill>
                  <a:srgbClr val="213163"/>
                </a:solidFill>
                <a:latin typeface="Arial Bold"/>
                <a:ea typeface="Arial Bold"/>
                <a:cs typeface="Arial Bold"/>
                <a:sym typeface="Arial Bold"/>
              </a:rPr>
              <a:t>taset and Model Details</a:t>
            </a:r>
          </a:p>
        </p:txBody>
      </p:sp>
      <p:grpSp>
        <p:nvGrpSpPr>
          <p:cNvPr name="Group 14" id="14"/>
          <p:cNvGrpSpPr/>
          <p:nvPr/>
        </p:nvGrpSpPr>
        <p:grpSpPr>
          <a:xfrm rot="0">
            <a:off x="394545" y="3263231"/>
            <a:ext cx="8742312" cy="6551938"/>
            <a:chOff x="0" y="0"/>
            <a:chExt cx="2302502" cy="1725613"/>
          </a:xfrm>
        </p:grpSpPr>
        <p:sp>
          <p:nvSpPr>
            <p:cNvPr name="Freeform 15" id="15"/>
            <p:cNvSpPr/>
            <p:nvPr/>
          </p:nvSpPr>
          <p:spPr>
            <a:xfrm flipH="false" flipV="false" rot="0">
              <a:off x="0" y="0"/>
              <a:ext cx="2302502" cy="1725613"/>
            </a:xfrm>
            <a:custGeom>
              <a:avLst/>
              <a:gdLst/>
              <a:ahLst/>
              <a:cxnLst/>
              <a:rect r="r" b="b" t="t" l="l"/>
              <a:pathLst>
                <a:path h="1725613" w="2302502">
                  <a:moveTo>
                    <a:pt x="0" y="0"/>
                  </a:moveTo>
                  <a:lnTo>
                    <a:pt x="2302502" y="0"/>
                  </a:lnTo>
                  <a:lnTo>
                    <a:pt x="2302502" y="1725613"/>
                  </a:lnTo>
                  <a:lnTo>
                    <a:pt x="0" y="1725613"/>
                  </a:lnTo>
                  <a:close/>
                </a:path>
              </a:pathLst>
            </a:custGeom>
            <a:solidFill>
              <a:srgbClr val="213163"/>
            </a:solidFill>
          </p:spPr>
        </p:sp>
        <p:sp>
          <p:nvSpPr>
            <p:cNvPr name="TextBox 16" id="16"/>
            <p:cNvSpPr txBox="true"/>
            <p:nvPr/>
          </p:nvSpPr>
          <p:spPr>
            <a:xfrm>
              <a:off x="0" y="-47625"/>
              <a:ext cx="2302502" cy="1773238"/>
            </a:xfrm>
            <a:prstGeom prst="rect">
              <a:avLst/>
            </a:prstGeom>
          </p:spPr>
          <p:txBody>
            <a:bodyPr anchor="ctr" rtlCol="false" tIns="50800" lIns="50800" bIns="50800" rIns="50800"/>
            <a:lstStyle/>
            <a:p>
              <a:pPr algn="just" marL="496567" indent="-248284" lvl="1">
                <a:lnSpc>
                  <a:spcPts val="3219"/>
                </a:lnSpc>
                <a:buFont typeface="Arial"/>
                <a:buChar char="•"/>
              </a:pPr>
              <a:r>
                <a:rPr lang="en-US" sz="2299">
                  <a:solidFill>
                    <a:srgbClr val="FF3131"/>
                  </a:solidFill>
                  <a:latin typeface="Canva Sans"/>
                  <a:ea typeface="Canva Sans"/>
                  <a:cs typeface="Canva Sans"/>
                  <a:sym typeface="Canva Sans"/>
                </a:rPr>
                <a:t>The dataset consists of energy consumption data for two buildings:</a:t>
              </a:r>
            </a:p>
            <a:p>
              <a:pPr algn="just" marL="993135" indent="-331045" lvl="2">
                <a:lnSpc>
                  <a:spcPts val="3219"/>
                </a:lnSpc>
                <a:buFont typeface="Arial"/>
                <a:buChar char="⚬"/>
              </a:pPr>
              <a:r>
                <a:rPr lang="en-US" sz="2299">
                  <a:solidFill>
                    <a:srgbClr val="FFFFFF"/>
                  </a:solidFill>
                  <a:latin typeface="Canva Sans"/>
                  <a:ea typeface="Canva Sans"/>
                  <a:cs typeface="Canva Sans"/>
                  <a:sym typeface="Canva Sans"/>
                </a:rPr>
                <a:t>Building A dataset</a:t>
              </a:r>
            </a:p>
            <a:p>
              <a:pPr algn="just" marL="993135" indent="-331045" lvl="2">
                <a:lnSpc>
                  <a:spcPts val="3219"/>
                </a:lnSpc>
                <a:buFont typeface="Arial"/>
                <a:buChar char="⚬"/>
              </a:pPr>
              <a:r>
                <a:rPr lang="en-US" sz="2299">
                  <a:solidFill>
                    <a:srgbClr val="FFFFFF"/>
                  </a:solidFill>
                  <a:latin typeface="Canva Sans"/>
                  <a:ea typeface="Canva Sans"/>
                  <a:cs typeface="Canva Sans"/>
                  <a:sym typeface="Canva Sans"/>
                </a:rPr>
                <a:t>Building B dataset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Data is recorded hourly (time-series data)</a:t>
              </a:r>
            </a:p>
            <a:p>
              <a:pPr algn="just">
                <a:lnSpc>
                  <a:spcPts val="3219"/>
                </a:lnSpc>
              </a:pPr>
              <a:r>
                <a:rPr lang="en-US" sz="2299">
                  <a:solidFill>
                    <a:srgbClr val="FFFFFF"/>
                  </a:solidFill>
                  <a:latin typeface="Canva Sans"/>
                  <a:ea typeface="Canva Sans"/>
                  <a:cs typeface="Canva Sans"/>
                  <a:sym typeface="Canva Sans"/>
                </a:rPr>
                <a:t>🔹 Features in Dataset: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DATE :  Timestamp (date &amp; time)</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ENERGY :  Energy consumption (target variable)</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HDD (Heating Degree Days) :  Heating requirement indicator</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CDD (Cooling Degree Days) :  Cooling requirement indicator</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T2M / T2M_MIN / T2M_MAX :  Temperature values</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ALLSKY → Solar radiation / sky condition</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HOLIDAY → Indicates holiday (0/1)</a:t>
              </a:r>
            </a:p>
            <a:p>
              <a:pPr algn="just">
                <a:lnSpc>
                  <a:spcPts val="3219"/>
                </a:lnSpc>
                <a:spcBef>
                  <a:spcPct val="0"/>
                </a:spcBef>
              </a:pPr>
            </a:p>
          </p:txBody>
        </p:sp>
      </p:grpSp>
      <p:sp>
        <p:nvSpPr>
          <p:cNvPr name="TextBox 17" id="17"/>
          <p:cNvSpPr txBox="true"/>
          <p:nvPr/>
        </p:nvSpPr>
        <p:spPr>
          <a:xfrm rot="0">
            <a:off x="394545" y="2611270"/>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Da</a:t>
            </a:r>
            <a:r>
              <a:rPr lang="en-US" sz="3000" b="true">
                <a:solidFill>
                  <a:srgbClr val="213163"/>
                </a:solidFill>
                <a:latin typeface="Arial Bold"/>
                <a:ea typeface="Arial Bold"/>
                <a:cs typeface="Arial Bold"/>
                <a:sym typeface="Arial Bold"/>
              </a:rPr>
              <a:t>taset Details</a:t>
            </a:r>
          </a:p>
        </p:txBody>
      </p:sp>
      <p:grpSp>
        <p:nvGrpSpPr>
          <p:cNvPr name="Group 18" id="18"/>
          <p:cNvGrpSpPr/>
          <p:nvPr/>
        </p:nvGrpSpPr>
        <p:grpSpPr>
          <a:xfrm rot="0">
            <a:off x="9345663" y="3263231"/>
            <a:ext cx="8742312" cy="5357312"/>
            <a:chOff x="0" y="0"/>
            <a:chExt cx="2302502" cy="1410979"/>
          </a:xfrm>
        </p:grpSpPr>
        <p:sp>
          <p:nvSpPr>
            <p:cNvPr name="Freeform 19" id="19"/>
            <p:cNvSpPr/>
            <p:nvPr/>
          </p:nvSpPr>
          <p:spPr>
            <a:xfrm flipH="false" flipV="false" rot="0">
              <a:off x="0" y="0"/>
              <a:ext cx="2302502" cy="1410979"/>
            </a:xfrm>
            <a:custGeom>
              <a:avLst/>
              <a:gdLst/>
              <a:ahLst/>
              <a:cxnLst/>
              <a:rect r="r" b="b" t="t" l="l"/>
              <a:pathLst>
                <a:path h="1410979" w="2302502">
                  <a:moveTo>
                    <a:pt x="0" y="0"/>
                  </a:moveTo>
                  <a:lnTo>
                    <a:pt x="2302502" y="0"/>
                  </a:lnTo>
                  <a:lnTo>
                    <a:pt x="2302502" y="1410979"/>
                  </a:lnTo>
                  <a:lnTo>
                    <a:pt x="0" y="1410979"/>
                  </a:lnTo>
                  <a:close/>
                </a:path>
              </a:pathLst>
            </a:custGeom>
            <a:solidFill>
              <a:srgbClr val="213163"/>
            </a:solidFill>
          </p:spPr>
        </p:sp>
        <p:sp>
          <p:nvSpPr>
            <p:cNvPr name="TextBox 20" id="20"/>
            <p:cNvSpPr txBox="true"/>
            <p:nvPr/>
          </p:nvSpPr>
          <p:spPr>
            <a:xfrm>
              <a:off x="0" y="-38100"/>
              <a:ext cx="2302502" cy="1449079"/>
            </a:xfrm>
            <a:prstGeom prst="rect">
              <a:avLst/>
            </a:prstGeom>
          </p:spPr>
          <p:txBody>
            <a:bodyPr anchor="ctr" rtlCol="false" tIns="50800" lIns="50800" bIns="50800" rIns="50800"/>
            <a:lstStyle/>
            <a:p>
              <a:pPr algn="just" marL="518157" indent="-259078" lvl="1">
                <a:lnSpc>
                  <a:spcPts val="3359"/>
                </a:lnSpc>
                <a:buFont typeface="Arial"/>
                <a:buChar char="•"/>
              </a:pPr>
              <a:r>
                <a:rPr lang="en-US" b="true" sz="2399">
                  <a:solidFill>
                    <a:srgbClr val="FF3131"/>
                  </a:solidFill>
                  <a:latin typeface="Canva Sans Bold"/>
                  <a:ea typeface="Canva Sans Bold"/>
                  <a:cs typeface="Canva Sans Bold"/>
                  <a:sym typeface="Canva Sans Bold"/>
                </a:rPr>
                <a:t>2. Data Preprocessing</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Ha</a:t>
              </a:r>
              <a:r>
                <a:rPr lang="en-US" sz="2299">
                  <a:solidFill>
                    <a:srgbClr val="FFFFFF"/>
                  </a:solidFill>
                  <a:latin typeface="Canva Sans"/>
                  <a:ea typeface="Canva Sans"/>
                  <a:cs typeface="Canva Sans"/>
                  <a:sym typeface="Canva Sans"/>
                </a:rPr>
                <a:t>ndled missing values (NaN in ENERGY column)</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Conv</a:t>
              </a:r>
              <a:r>
                <a:rPr lang="en-US" sz="2299">
                  <a:solidFill>
                    <a:srgbClr val="FFFFFF"/>
                  </a:solidFill>
                  <a:latin typeface="Canva Sans"/>
                  <a:ea typeface="Canva Sans"/>
                  <a:cs typeface="Canva Sans"/>
                  <a:sym typeface="Canva Sans"/>
                </a:rPr>
                <a:t>erted DATE column → datetime format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Normalized / scaled numerical features</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Removed unnecessary or redundant columns</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Split data into:</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Training set</a:t>
              </a:r>
            </a:p>
            <a:p>
              <a:pPr algn="just" marL="496567" indent="-248284" lvl="1">
                <a:lnSpc>
                  <a:spcPts val="3219"/>
                </a:lnSpc>
                <a:buFont typeface="Arial"/>
                <a:buChar char="•"/>
              </a:pPr>
              <a:r>
                <a:rPr lang="en-US" sz="2299">
                  <a:solidFill>
                    <a:srgbClr val="FFFFFF"/>
                  </a:solidFill>
                  <a:latin typeface="Canva Sans"/>
                  <a:ea typeface="Canva Sans"/>
                  <a:cs typeface="Canva Sans"/>
                  <a:sym typeface="Canva Sans"/>
                </a:rPr>
                <a:t>Testing set</a:t>
              </a:r>
            </a:p>
            <a:p>
              <a:pPr algn="just">
                <a:lnSpc>
                  <a:spcPts val="321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aphicFrame>
        <p:nvGraphicFramePr>
          <p:cNvPr name="Object 13" id="13"/>
          <p:cNvGraphicFramePr/>
          <p:nvPr/>
        </p:nvGraphicFramePr>
        <p:xfrm>
          <a:off x="742936" y="3179080"/>
          <a:ext cx="11315700" cy="3771900"/>
        </p:xfrm>
        <a:graphic>
          <a:graphicData uri="http://schemas.openxmlformats.org/presentationml/2006/ole">
            <p:oleObj imgW="13576300" imgH="60325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14" id="14"/>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Da</a:t>
            </a:r>
            <a:r>
              <a:rPr lang="en-US" sz="3000" b="true">
                <a:solidFill>
                  <a:srgbClr val="213163"/>
                </a:solidFill>
                <a:latin typeface="Arial Bold"/>
                <a:ea typeface="Arial Bold"/>
                <a:cs typeface="Arial Bold"/>
                <a:sym typeface="Arial Bold"/>
              </a:rPr>
              <a:t>taset and Model Details</a:t>
            </a:r>
          </a:p>
        </p:txBody>
      </p:sp>
      <p:sp>
        <p:nvSpPr>
          <p:cNvPr name="TextBox 15" id="15"/>
          <p:cNvSpPr txBox="true"/>
          <p:nvPr/>
        </p:nvSpPr>
        <p:spPr>
          <a:xfrm rot="0">
            <a:off x="394545" y="2146693"/>
            <a:ext cx="16217093" cy="13906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Model </a:t>
            </a:r>
            <a:r>
              <a:rPr lang="en-US" sz="3000" b="true">
                <a:solidFill>
                  <a:srgbClr val="213163"/>
                </a:solidFill>
                <a:latin typeface="Arial Bold"/>
                <a:ea typeface="Arial Bold"/>
                <a:cs typeface="Arial Bold"/>
                <a:sym typeface="Arial Bold"/>
              </a:rPr>
              <a:t>Details (👉 SVM (SVR) achieved the highest test accuracy:</a:t>
            </a:r>
          </a:p>
          <a:p>
            <a:pPr algn="l" marL="647700" indent="-323850" lvl="1">
              <a:lnSpc>
                <a:spcPts val="3600"/>
              </a:lnSpc>
              <a:buFont typeface="Arial"/>
              <a:buChar char="•"/>
            </a:pPr>
            <a:r>
              <a:rPr lang="en-US" b="true" sz="3000">
                <a:solidFill>
                  <a:srgbClr val="213163"/>
                </a:solidFill>
                <a:latin typeface="Arial Bold"/>
                <a:ea typeface="Arial Bold"/>
                <a:cs typeface="Arial Bold"/>
                <a:sym typeface="Arial Bold"/>
              </a:rPr>
              <a:t>Test Accuracy = 83.74%</a:t>
            </a:r>
          </a:p>
          <a:p>
            <a:pPr algn="l">
              <a:lnSpc>
                <a:spcPts val="36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End Users</a:t>
            </a:r>
          </a:p>
        </p:txBody>
      </p:sp>
      <p:grpSp>
        <p:nvGrpSpPr>
          <p:cNvPr name="Group 14" id="14"/>
          <p:cNvGrpSpPr/>
          <p:nvPr/>
        </p:nvGrpSpPr>
        <p:grpSpPr>
          <a:xfrm rot="0">
            <a:off x="239686" y="2371296"/>
            <a:ext cx="8474151" cy="7651021"/>
            <a:chOff x="0" y="0"/>
            <a:chExt cx="2231875" cy="2015084"/>
          </a:xfrm>
        </p:grpSpPr>
        <p:sp>
          <p:nvSpPr>
            <p:cNvPr name="Freeform 15" id="15"/>
            <p:cNvSpPr/>
            <p:nvPr/>
          </p:nvSpPr>
          <p:spPr>
            <a:xfrm flipH="false" flipV="false" rot="0">
              <a:off x="0" y="0"/>
              <a:ext cx="2231875" cy="2015084"/>
            </a:xfrm>
            <a:custGeom>
              <a:avLst/>
              <a:gdLst/>
              <a:ahLst/>
              <a:cxnLst/>
              <a:rect r="r" b="b" t="t" l="l"/>
              <a:pathLst>
                <a:path h="2015084" w="2231875">
                  <a:moveTo>
                    <a:pt x="0" y="0"/>
                  </a:moveTo>
                  <a:lnTo>
                    <a:pt x="2231875" y="0"/>
                  </a:lnTo>
                  <a:lnTo>
                    <a:pt x="2231875" y="2015084"/>
                  </a:lnTo>
                  <a:lnTo>
                    <a:pt x="0" y="2015084"/>
                  </a:lnTo>
                  <a:close/>
                </a:path>
              </a:pathLst>
            </a:custGeom>
            <a:solidFill>
              <a:srgbClr val="213163"/>
            </a:solidFill>
          </p:spPr>
        </p:sp>
        <p:sp>
          <p:nvSpPr>
            <p:cNvPr name="TextBox 16" id="16"/>
            <p:cNvSpPr txBox="true"/>
            <p:nvPr/>
          </p:nvSpPr>
          <p:spPr>
            <a:xfrm>
              <a:off x="0" y="-47625"/>
              <a:ext cx="2231875" cy="2062709"/>
            </a:xfrm>
            <a:prstGeom prst="rect">
              <a:avLst/>
            </a:prstGeom>
          </p:spPr>
          <p:txBody>
            <a:bodyPr anchor="ctr" rtlCol="false" tIns="50800" lIns="50800" bIns="50800" rIns="50800"/>
            <a:lstStyle/>
            <a:p>
              <a:pPr algn="l">
                <a:lnSpc>
                  <a:spcPts val="4199"/>
                </a:lnSpc>
              </a:pPr>
              <a:r>
                <a:rPr lang="en-US" sz="2999" b="true">
                  <a:solidFill>
                    <a:srgbClr val="FFFFFF"/>
                  </a:solidFill>
                  <a:latin typeface="Canva Sans Bold"/>
                  <a:ea typeface="Canva Sans Bold"/>
                  <a:cs typeface="Canva Sans Bold"/>
                  <a:sym typeface="Canva Sans Bold"/>
                </a:rPr>
                <a:t>👤</a:t>
              </a:r>
              <a:r>
                <a:rPr lang="en-US" sz="2999" b="true">
                  <a:solidFill>
                    <a:srgbClr val="841910"/>
                  </a:solidFill>
                  <a:latin typeface="Canva Sans Bold"/>
                  <a:ea typeface="Canva Sans Bold"/>
                  <a:cs typeface="Canva Sans Bold"/>
                  <a:sym typeface="Canva Sans Bold"/>
                </a:rPr>
                <a:t> </a:t>
              </a:r>
              <a:r>
                <a:rPr lang="en-US" sz="2999" b="true">
                  <a:solidFill>
                    <a:srgbClr val="FF3131"/>
                  </a:solidFill>
                  <a:latin typeface="Canva Sans Bold"/>
                  <a:ea typeface="Canva Sans Bold"/>
                  <a:cs typeface="Canva Sans Bold"/>
                  <a:sym typeface="Canva Sans Bold"/>
                </a:rPr>
                <a:t>1. Residential Users (Smart Homes)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Homeowners using smart devices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Want to reduce electricity bills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Monitor daily energy usage</a:t>
              </a:r>
            </a:p>
            <a:p>
              <a:pPr algn="l">
                <a:lnSpc>
                  <a:spcPts val="3919"/>
                </a:lnSpc>
              </a:pPr>
            </a:p>
            <a:p>
              <a:pPr algn="l">
                <a:lnSpc>
                  <a:spcPts val="4199"/>
                </a:lnSpc>
              </a:pPr>
              <a:r>
                <a:rPr lang="en-US" sz="2999" b="true">
                  <a:solidFill>
                    <a:srgbClr val="FF3131"/>
                  </a:solidFill>
                  <a:latin typeface="Canva Sans Bold"/>
                  <a:ea typeface="Canva Sans Bold"/>
                  <a:cs typeface="Canva Sans Bold"/>
                  <a:sym typeface="Canva Sans Bold"/>
                </a:rPr>
                <a:t>🏢 2. Commercial Buildings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Offices, malls, hotels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Manage large-scale energy consumption</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Optimize power usage during peak hours</a:t>
              </a:r>
            </a:p>
            <a:p>
              <a:pPr algn="l">
                <a:lnSpc>
                  <a:spcPts val="3919"/>
                </a:lnSpc>
              </a:pPr>
            </a:p>
            <a:p>
              <a:pPr algn="l">
                <a:lnSpc>
                  <a:spcPts val="4199"/>
                </a:lnSpc>
              </a:pPr>
              <a:r>
                <a:rPr lang="en-US" sz="2999" b="true">
                  <a:solidFill>
                    <a:srgbClr val="FFFFFF"/>
                  </a:solidFill>
                  <a:latin typeface="Canva Sans Bold"/>
                  <a:ea typeface="Canva Sans Bold"/>
                  <a:cs typeface="Canva Sans Bold"/>
                  <a:sym typeface="Canva Sans Bold"/>
                </a:rPr>
                <a:t>🏭</a:t>
              </a:r>
              <a:r>
                <a:rPr lang="en-US" sz="2999" b="true">
                  <a:solidFill>
                    <a:srgbClr val="FF3131"/>
                  </a:solidFill>
                  <a:latin typeface="Canva Sans Bold"/>
                  <a:ea typeface="Canva Sans Bold"/>
                  <a:cs typeface="Canva Sans Bold"/>
                  <a:sym typeface="Canva Sans Bold"/>
                </a:rPr>
                <a:t> 3. Industries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Factories and manufacturing units</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Require efficient energy management</a:t>
              </a:r>
            </a:p>
            <a:p>
              <a:pPr algn="l" marL="604515" indent="-302257" lvl="1">
                <a:lnSpc>
                  <a:spcPts val="3919"/>
                </a:lnSpc>
                <a:buFont typeface="Arial"/>
                <a:buChar char="•"/>
              </a:pPr>
              <a:r>
                <a:rPr lang="en-US" sz="2799">
                  <a:solidFill>
                    <a:srgbClr val="FFFFFF"/>
                  </a:solidFill>
                  <a:latin typeface="Canva Sans"/>
                  <a:ea typeface="Canva Sans"/>
                  <a:cs typeface="Canva Sans"/>
                  <a:sym typeface="Canva Sans"/>
                </a:rPr>
                <a:t>Reduce operational costs</a:t>
              </a:r>
            </a:p>
            <a:p>
              <a:pPr algn="l">
                <a:lnSpc>
                  <a:spcPts val="3919"/>
                </a:lnSpc>
                <a:spcBef>
                  <a:spcPct val="0"/>
                </a:spcBef>
              </a:pPr>
            </a:p>
          </p:txBody>
        </p:sp>
      </p:grpSp>
      <p:grpSp>
        <p:nvGrpSpPr>
          <p:cNvPr name="Group 17" id="17"/>
          <p:cNvGrpSpPr/>
          <p:nvPr/>
        </p:nvGrpSpPr>
        <p:grpSpPr>
          <a:xfrm rot="0">
            <a:off x="9335218" y="2333984"/>
            <a:ext cx="8474151" cy="7688334"/>
            <a:chOff x="0" y="0"/>
            <a:chExt cx="2231875" cy="2024911"/>
          </a:xfrm>
        </p:grpSpPr>
        <p:sp>
          <p:nvSpPr>
            <p:cNvPr name="Freeform 18" id="18"/>
            <p:cNvSpPr/>
            <p:nvPr/>
          </p:nvSpPr>
          <p:spPr>
            <a:xfrm flipH="false" flipV="false" rot="0">
              <a:off x="0" y="0"/>
              <a:ext cx="2231875" cy="2024911"/>
            </a:xfrm>
            <a:custGeom>
              <a:avLst/>
              <a:gdLst/>
              <a:ahLst/>
              <a:cxnLst/>
              <a:rect r="r" b="b" t="t" l="l"/>
              <a:pathLst>
                <a:path h="2024911" w="2231875">
                  <a:moveTo>
                    <a:pt x="0" y="0"/>
                  </a:moveTo>
                  <a:lnTo>
                    <a:pt x="2231875" y="0"/>
                  </a:lnTo>
                  <a:lnTo>
                    <a:pt x="2231875" y="2024911"/>
                  </a:lnTo>
                  <a:lnTo>
                    <a:pt x="0" y="2024911"/>
                  </a:lnTo>
                  <a:close/>
                </a:path>
              </a:pathLst>
            </a:custGeom>
            <a:solidFill>
              <a:srgbClr val="213163"/>
            </a:solidFill>
          </p:spPr>
        </p:sp>
        <p:sp>
          <p:nvSpPr>
            <p:cNvPr name="TextBox 19" id="19"/>
            <p:cNvSpPr txBox="true"/>
            <p:nvPr/>
          </p:nvSpPr>
          <p:spPr>
            <a:xfrm>
              <a:off x="0" y="-66675"/>
              <a:ext cx="2231875" cy="2091586"/>
            </a:xfrm>
            <a:prstGeom prst="rect">
              <a:avLst/>
            </a:prstGeom>
          </p:spPr>
          <p:txBody>
            <a:bodyPr anchor="ctr" rtlCol="false" tIns="50800" lIns="50800" bIns="50800" rIns="50800"/>
            <a:lstStyle/>
            <a:p>
              <a:pPr algn="l">
                <a:lnSpc>
                  <a:spcPts val="4619"/>
                </a:lnSpc>
              </a:pPr>
              <a:r>
                <a:rPr lang="en-US" sz="3299" b="true">
                  <a:solidFill>
                    <a:srgbClr val="FFFFFF"/>
                  </a:solidFill>
                  <a:latin typeface="Canva Sans Bold"/>
                  <a:ea typeface="Canva Sans Bold"/>
                  <a:cs typeface="Canva Sans Bold"/>
                  <a:sym typeface="Canva Sans Bold"/>
                </a:rPr>
                <a:t>⚡</a:t>
              </a:r>
              <a:r>
                <a:rPr lang="en-US" sz="3299" b="true">
                  <a:solidFill>
                    <a:srgbClr val="FF3131"/>
                  </a:solidFill>
                  <a:latin typeface="Canva Sans Bold"/>
                  <a:ea typeface="Canva Sans Bold"/>
                  <a:cs typeface="Canva Sans Bold"/>
                  <a:sym typeface="Canva Sans Bold"/>
                </a:rPr>
                <a:t> 4. Power Utility Companies</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E</a:t>
              </a:r>
              <a:r>
                <a:rPr lang="en-US" sz="2899">
                  <a:solidFill>
                    <a:srgbClr val="FFFFFF"/>
                  </a:solidFill>
                  <a:latin typeface="Canva Sans"/>
                  <a:ea typeface="Canva Sans"/>
                  <a:cs typeface="Canva Sans"/>
                  <a:sym typeface="Canva Sans"/>
                </a:rPr>
                <a:t>lectricity providers</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F</a:t>
              </a:r>
              <a:r>
                <a:rPr lang="en-US" sz="2899">
                  <a:solidFill>
                    <a:srgbClr val="FFFFFF"/>
                  </a:solidFill>
                  <a:latin typeface="Canva Sans"/>
                  <a:ea typeface="Canva Sans"/>
                  <a:cs typeface="Canva Sans"/>
                  <a:sym typeface="Canva Sans"/>
                </a:rPr>
                <a:t>orecast demand and manage supply</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Improve grid stability</a:t>
              </a:r>
            </a:p>
            <a:p>
              <a:pPr algn="l">
                <a:lnSpc>
                  <a:spcPts val="4059"/>
                </a:lnSpc>
              </a:pPr>
            </a:p>
            <a:p>
              <a:pPr algn="l">
                <a:lnSpc>
                  <a:spcPts val="4619"/>
                </a:lnSpc>
              </a:pPr>
              <a:r>
                <a:rPr lang="en-US" sz="3299" b="true">
                  <a:solidFill>
                    <a:srgbClr val="FFFFFF"/>
                  </a:solidFill>
                  <a:latin typeface="Canva Sans Bold"/>
                  <a:ea typeface="Canva Sans Bold"/>
                  <a:cs typeface="Canva Sans Bold"/>
                  <a:sym typeface="Canva Sans Bold"/>
                </a:rPr>
                <a:t>🌆 </a:t>
              </a:r>
              <a:r>
                <a:rPr lang="en-US" sz="3299" b="true">
                  <a:solidFill>
                    <a:srgbClr val="FF3131"/>
                  </a:solidFill>
                  <a:latin typeface="Canva Sans Bold"/>
                  <a:ea typeface="Canva Sans Bold"/>
                  <a:cs typeface="Canva Sans Bold"/>
                  <a:sym typeface="Canva Sans Bold"/>
                </a:rPr>
                <a:t>5. Smart City Management</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Gov</a:t>
              </a:r>
              <a:r>
                <a:rPr lang="en-US" sz="2899">
                  <a:solidFill>
                    <a:srgbClr val="FFFFFF"/>
                  </a:solidFill>
                  <a:latin typeface="Canva Sans"/>
                  <a:ea typeface="Canva Sans"/>
                  <a:cs typeface="Canva Sans"/>
                  <a:sym typeface="Canva Sans"/>
                </a:rPr>
                <a:t>ernment and municipal authorities</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Monitor city-wide energy usage</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I</a:t>
              </a:r>
              <a:r>
                <a:rPr lang="en-US" sz="2899">
                  <a:solidFill>
                    <a:srgbClr val="FFFFFF"/>
                  </a:solidFill>
                  <a:latin typeface="Canva Sans"/>
                  <a:ea typeface="Canva Sans"/>
                  <a:cs typeface="Canva Sans"/>
                  <a:sym typeface="Canva Sans"/>
                </a:rPr>
                <a:t>mprove sustainability</a:t>
              </a:r>
            </a:p>
            <a:p>
              <a:pPr algn="l">
                <a:lnSpc>
                  <a:spcPts val="4059"/>
                </a:lnSpc>
              </a:pPr>
            </a:p>
            <a:p>
              <a:pPr algn="l">
                <a:lnSpc>
                  <a:spcPts val="4619"/>
                </a:lnSpc>
              </a:pPr>
              <a:r>
                <a:rPr lang="en-US" sz="3299">
                  <a:solidFill>
                    <a:srgbClr val="FFFFFF"/>
                  </a:solidFill>
                  <a:latin typeface="Canva Sans"/>
                  <a:ea typeface="Canva Sans"/>
                  <a:cs typeface="Canva Sans"/>
                  <a:sym typeface="Canva Sans"/>
                </a:rPr>
                <a:t>  </a:t>
              </a:r>
              <a:r>
                <a:rPr lang="en-US" sz="3299" b="true">
                  <a:solidFill>
                    <a:srgbClr val="FFFFFF"/>
                  </a:solidFill>
                  <a:latin typeface="Canva Sans Bold"/>
                  <a:ea typeface="Canva Sans Bold"/>
                  <a:cs typeface="Canva Sans Bold"/>
                  <a:sym typeface="Canva Sans Bold"/>
                </a:rPr>
                <a:t>📊</a:t>
              </a:r>
              <a:r>
                <a:rPr lang="en-US" sz="3299" b="true">
                  <a:solidFill>
                    <a:srgbClr val="FF3131"/>
                  </a:solidFill>
                  <a:latin typeface="Canva Sans Bold"/>
                  <a:ea typeface="Canva Sans Bold"/>
                  <a:cs typeface="Canva Sans Bold"/>
                  <a:sym typeface="Canva Sans Bold"/>
                </a:rPr>
                <a:t> 6. Energy Analysts &amp; Researchers</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Study energy patterns and trends</a:t>
              </a:r>
            </a:p>
            <a:p>
              <a:pPr algn="l" marL="626104" indent="-313052" lvl="1">
                <a:lnSpc>
                  <a:spcPts val="4059"/>
                </a:lnSpc>
                <a:buFont typeface="Arial"/>
                <a:buChar char="•"/>
              </a:pPr>
              <a:r>
                <a:rPr lang="en-US" sz="2899">
                  <a:solidFill>
                    <a:srgbClr val="FFFFFF"/>
                  </a:solidFill>
                  <a:latin typeface="Canva Sans"/>
                  <a:ea typeface="Canva Sans"/>
                  <a:cs typeface="Canva Sans"/>
                  <a:sym typeface="Canva Sans"/>
                </a:rPr>
                <a:t>Develop better optimization strategies</a:t>
              </a:r>
            </a:p>
            <a:p>
              <a:pPr algn="l">
                <a:lnSpc>
                  <a:spcPts val="4059"/>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Freeform 13" id="13"/>
          <p:cNvSpPr/>
          <p:nvPr/>
        </p:nvSpPr>
        <p:spPr>
          <a:xfrm flipH="false" flipV="false" rot="0">
            <a:off x="9650598" y="1301744"/>
            <a:ext cx="8000553" cy="4000277"/>
          </a:xfrm>
          <a:custGeom>
            <a:avLst/>
            <a:gdLst/>
            <a:ahLst/>
            <a:cxnLst/>
            <a:rect r="r" b="b" t="t" l="l"/>
            <a:pathLst>
              <a:path h="4000277" w="8000553">
                <a:moveTo>
                  <a:pt x="0" y="0"/>
                </a:moveTo>
                <a:lnTo>
                  <a:pt x="8000553" y="0"/>
                </a:lnTo>
                <a:lnTo>
                  <a:pt x="8000553" y="4000277"/>
                </a:lnTo>
                <a:lnTo>
                  <a:pt x="0" y="4000277"/>
                </a:lnTo>
                <a:lnTo>
                  <a:pt x="0" y="0"/>
                </a:lnTo>
                <a:close/>
              </a:path>
            </a:pathLst>
          </a:custGeom>
          <a:blipFill>
            <a:blip r:embed="rId4"/>
            <a:stretch>
              <a:fillRect l="0" t="0" r="0" b="0"/>
            </a:stretch>
          </a:blipFill>
        </p:spPr>
      </p:sp>
      <p:sp>
        <p:nvSpPr>
          <p:cNvPr name="TextBox 14" id="14"/>
          <p:cNvSpPr txBox="true"/>
          <p:nvPr/>
        </p:nvSpPr>
        <p:spPr>
          <a:xfrm rot="0">
            <a:off x="470745" y="452504"/>
            <a:ext cx="8673255" cy="527771"/>
          </a:xfrm>
          <a:prstGeom prst="rect">
            <a:avLst/>
          </a:prstGeom>
        </p:spPr>
        <p:txBody>
          <a:bodyPr anchor="t" rtlCol="false" tIns="0" lIns="0" bIns="0" rIns="0">
            <a:spAutoFit/>
          </a:bodyPr>
          <a:lstStyle/>
          <a:p>
            <a:pPr algn="l">
              <a:lnSpc>
                <a:spcPts val="3600"/>
              </a:lnSpc>
            </a:pPr>
            <a:r>
              <a:rPr lang="en-US" b="true" sz="3000">
                <a:solidFill>
                  <a:srgbClr val="FFFFFF"/>
                </a:solidFill>
                <a:latin typeface="Arial Bold"/>
                <a:ea typeface="Arial Bold"/>
                <a:cs typeface="Arial Bold"/>
                <a:sym typeface="Arial Bold"/>
              </a:rPr>
              <a:t>Wow Factors in Project</a:t>
            </a:r>
          </a:p>
        </p:txBody>
      </p:sp>
      <p:grpSp>
        <p:nvGrpSpPr>
          <p:cNvPr name="Group 15" id="15"/>
          <p:cNvGrpSpPr/>
          <p:nvPr/>
        </p:nvGrpSpPr>
        <p:grpSpPr>
          <a:xfrm rot="0">
            <a:off x="239686" y="1504521"/>
            <a:ext cx="8474151" cy="1842076"/>
            <a:chOff x="0" y="0"/>
            <a:chExt cx="2231875" cy="485156"/>
          </a:xfrm>
        </p:grpSpPr>
        <p:sp>
          <p:nvSpPr>
            <p:cNvPr name="Freeform 16" id="16"/>
            <p:cNvSpPr/>
            <p:nvPr/>
          </p:nvSpPr>
          <p:spPr>
            <a:xfrm flipH="false" flipV="false" rot="0">
              <a:off x="0" y="0"/>
              <a:ext cx="2231875" cy="485156"/>
            </a:xfrm>
            <a:custGeom>
              <a:avLst/>
              <a:gdLst/>
              <a:ahLst/>
              <a:cxnLst/>
              <a:rect r="r" b="b" t="t" l="l"/>
              <a:pathLst>
                <a:path h="485156" w="2231875">
                  <a:moveTo>
                    <a:pt x="0" y="0"/>
                  </a:moveTo>
                  <a:lnTo>
                    <a:pt x="2231875" y="0"/>
                  </a:lnTo>
                  <a:lnTo>
                    <a:pt x="2231875" y="485156"/>
                  </a:lnTo>
                  <a:lnTo>
                    <a:pt x="0" y="485156"/>
                  </a:lnTo>
                  <a:close/>
                </a:path>
              </a:pathLst>
            </a:custGeom>
            <a:solidFill>
              <a:srgbClr val="213163"/>
            </a:solidFill>
          </p:spPr>
        </p:sp>
        <p:sp>
          <p:nvSpPr>
            <p:cNvPr name="TextBox 17" id="17"/>
            <p:cNvSpPr txBox="true"/>
            <p:nvPr/>
          </p:nvSpPr>
          <p:spPr>
            <a:xfrm>
              <a:off x="0" y="-57150"/>
              <a:ext cx="2231875" cy="542306"/>
            </a:xfrm>
            <a:prstGeom prst="rect">
              <a:avLst/>
            </a:prstGeom>
          </p:spPr>
          <p:txBody>
            <a:bodyPr anchor="ctr" rtlCol="false" tIns="50800" lIns="50800" bIns="50800" rIns="50800"/>
            <a:lstStyle/>
            <a:p>
              <a:pPr algn="l">
                <a:lnSpc>
                  <a:spcPts val="3639"/>
                </a:lnSpc>
              </a:pPr>
              <a:r>
                <a:rPr lang="en-US" sz="2599" b="true">
                  <a:solidFill>
                    <a:srgbClr val="FFFFFF"/>
                  </a:solidFill>
                  <a:latin typeface="Canva Sans Bold"/>
                  <a:ea typeface="Canva Sans Bold"/>
                  <a:cs typeface="Canva Sans Bold"/>
                  <a:sym typeface="Canva Sans Bold"/>
                </a:rPr>
                <a:t>🤖 AI-Powered Intelligence</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Uses Machine Learning + Deep Learning</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Learns patterns and improves predictions over time</a:t>
              </a:r>
            </a:p>
            <a:p>
              <a:pPr algn="l">
                <a:lnSpc>
                  <a:spcPts val="3359"/>
                </a:lnSpc>
                <a:spcBef>
                  <a:spcPct val="0"/>
                </a:spcBef>
              </a:pPr>
            </a:p>
          </p:txBody>
        </p:sp>
      </p:grpSp>
      <p:grpSp>
        <p:nvGrpSpPr>
          <p:cNvPr name="Group 18" id="18"/>
          <p:cNvGrpSpPr/>
          <p:nvPr/>
        </p:nvGrpSpPr>
        <p:grpSpPr>
          <a:xfrm rot="0">
            <a:off x="239686" y="3504660"/>
            <a:ext cx="8474151" cy="1842076"/>
            <a:chOff x="0" y="0"/>
            <a:chExt cx="2231875" cy="485156"/>
          </a:xfrm>
        </p:grpSpPr>
        <p:sp>
          <p:nvSpPr>
            <p:cNvPr name="Freeform 19" id="19"/>
            <p:cNvSpPr/>
            <p:nvPr/>
          </p:nvSpPr>
          <p:spPr>
            <a:xfrm flipH="false" flipV="false" rot="0">
              <a:off x="0" y="0"/>
              <a:ext cx="2231875" cy="485156"/>
            </a:xfrm>
            <a:custGeom>
              <a:avLst/>
              <a:gdLst/>
              <a:ahLst/>
              <a:cxnLst/>
              <a:rect r="r" b="b" t="t" l="l"/>
              <a:pathLst>
                <a:path h="485156" w="2231875">
                  <a:moveTo>
                    <a:pt x="0" y="0"/>
                  </a:moveTo>
                  <a:lnTo>
                    <a:pt x="2231875" y="0"/>
                  </a:lnTo>
                  <a:lnTo>
                    <a:pt x="2231875" y="485156"/>
                  </a:lnTo>
                  <a:lnTo>
                    <a:pt x="0" y="485156"/>
                  </a:lnTo>
                  <a:close/>
                </a:path>
              </a:pathLst>
            </a:custGeom>
            <a:solidFill>
              <a:srgbClr val="213163"/>
            </a:solidFill>
          </p:spPr>
        </p:sp>
        <p:sp>
          <p:nvSpPr>
            <p:cNvPr name="TextBox 20" id="20"/>
            <p:cNvSpPr txBox="true"/>
            <p:nvPr/>
          </p:nvSpPr>
          <p:spPr>
            <a:xfrm>
              <a:off x="0" y="-57150"/>
              <a:ext cx="2231875" cy="542306"/>
            </a:xfrm>
            <a:prstGeom prst="rect">
              <a:avLst/>
            </a:prstGeom>
          </p:spPr>
          <p:txBody>
            <a:bodyPr anchor="ctr" rtlCol="false" tIns="50800" lIns="50800" bIns="50800" rIns="50800"/>
            <a:lstStyle/>
            <a:p>
              <a:pPr algn="l">
                <a:lnSpc>
                  <a:spcPts val="3639"/>
                </a:lnSpc>
              </a:pPr>
              <a:r>
                <a:rPr lang="en-US" sz="2599" b="true">
                  <a:solidFill>
                    <a:srgbClr val="FFFFFF"/>
                  </a:solidFill>
                  <a:latin typeface="Canva Sans Bold"/>
                  <a:ea typeface="Canva Sans Bold"/>
                  <a:cs typeface="Canva Sans Bold"/>
                  <a:sym typeface="Canva Sans Bold"/>
                </a:rPr>
                <a:t>🔮 Future Energy Prediction</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Pr</a:t>
              </a:r>
              <a:r>
                <a:rPr lang="en-US" sz="2399">
                  <a:solidFill>
                    <a:srgbClr val="FFFFFF"/>
                  </a:solidFill>
                  <a:latin typeface="Canva Sans"/>
                  <a:ea typeface="Canva Sans"/>
                  <a:cs typeface="Canva Sans"/>
                  <a:sym typeface="Canva Sans"/>
                </a:rPr>
                <a:t>edicts next hour/day energy usage</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Helps in planning and avoiding peak load</a:t>
              </a:r>
            </a:p>
            <a:p>
              <a:pPr algn="l">
                <a:lnSpc>
                  <a:spcPts val="3359"/>
                </a:lnSpc>
                <a:spcBef>
                  <a:spcPct val="0"/>
                </a:spcBef>
              </a:pPr>
            </a:p>
          </p:txBody>
        </p:sp>
      </p:grpSp>
      <p:grpSp>
        <p:nvGrpSpPr>
          <p:cNvPr name="Group 21" id="21"/>
          <p:cNvGrpSpPr/>
          <p:nvPr/>
        </p:nvGrpSpPr>
        <p:grpSpPr>
          <a:xfrm rot="0">
            <a:off x="239686" y="5505856"/>
            <a:ext cx="8474151" cy="2261176"/>
            <a:chOff x="0" y="0"/>
            <a:chExt cx="2231875" cy="595536"/>
          </a:xfrm>
        </p:grpSpPr>
        <p:sp>
          <p:nvSpPr>
            <p:cNvPr name="Freeform 22" id="22"/>
            <p:cNvSpPr/>
            <p:nvPr/>
          </p:nvSpPr>
          <p:spPr>
            <a:xfrm flipH="false" flipV="false" rot="0">
              <a:off x="0" y="0"/>
              <a:ext cx="2231875" cy="595536"/>
            </a:xfrm>
            <a:custGeom>
              <a:avLst/>
              <a:gdLst/>
              <a:ahLst/>
              <a:cxnLst/>
              <a:rect r="r" b="b" t="t" l="l"/>
              <a:pathLst>
                <a:path h="595536" w="2231875">
                  <a:moveTo>
                    <a:pt x="0" y="0"/>
                  </a:moveTo>
                  <a:lnTo>
                    <a:pt x="2231875" y="0"/>
                  </a:lnTo>
                  <a:lnTo>
                    <a:pt x="2231875" y="595536"/>
                  </a:lnTo>
                  <a:lnTo>
                    <a:pt x="0" y="595536"/>
                  </a:lnTo>
                  <a:close/>
                </a:path>
              </a:pathLst>
            </a:custGeom>
            <a:solidFill>
              <a:srgbClr val="213163"/>
            </a:solidFill>
          </p:spPr>
        </p:sp>
        <p:sp>
          <p:nvSpPr>
            <p:cNvPr name="TextBox 23" id="23"/>
            <p:cNvSpPr txBox="true"/>
            <p:nvPr/>
          </p:nvSpPr>
          <p:spPr>
            <a:xfrm>
              <a:off x="0" y="-57150"/>
              <a:ext cx="2231875" cy="652686"/>
            </a:xfrm>
            <a:prstGeom prst="rect">
              <a:avLst/>
            </a:prstGeom>
          </p:spPr>
          <p:txBody>
            <a:bodyPr anchor="ctr" rtlCol="false" tIns="50800" lIns="50800" bIns="50800" rIns="50800"/>
            <a:lstStyle/>
            <a:p>
              <a:pPr algn="l">
                <a:lnSpc>
                  <a:spcPts val="3639"/>
                </a:lnSpc>
              </a:pPr>
              <a:r>
                <a:rPr lang="en-US" sz="2599" b="true">
                  <a:solidFill>
                    <a:srgbClr val="FFFFFF"/>
                  </a:solidFill>
                  <a:latin typeface="Canva Sans Bold"/>
                  <a:ea typeface="Canva Sans Bold"/>
                  <a:cs typeface="Canva Sans Bold"/>
                  <a:sym typeface="Canva Sans Bold"/>
                </a:rPr>
                <a:t>⚡ Smart Optimization</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Sugg</a:t>
              </a:r>
              <a:r>
                <a:rPr lang="en-US" sz="2399">
                  <a:solidFill>
                    <a:srgbClr val="FFFFFF"/>
                  </a:solidFill>
                  <a:latin typeface="Canva Sans"/>
                  <a:ea typeface="Canva Sans"/>
                  <a:cs typeface="Canva Sans"/>
                  <a:sym typeface="Canva Sans"/>
                </a:rPr>
                <a:t>ests best time to use appliances</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Reduces unnecessary energy consumption automatically</a:t>
              </a:r>
            </a:p>
            <a:p>
              <a:pPr algn="l">
                <a:lnSpc>
                  <a:spcPts val="3359"/>
                </a:lnSpc>
                <a:spcBef>
                  <a:spcPct val="0"/>
                </a:spcBef>
              </a:pPr>
            </a:p>
          </p:txBody>
        </p:sp>
      </p:grpSp>
      <p:grpSp>
        <p:nvGrpSpPr>
          <p:cNvPr name="Group 24" id="24"/>
          <p:cNvGrpSpPr/>
          <p:nvPr/>
        </p:nvGrpSpPr>
        <p:grpSpPr>
          <a:xfrm rot="0">
            <a:off x="239686" y="7848647"/>
            <a:ext cx="8474151" cy="2123716"/>
            <a:chOff x="0" y="0"/>
            <a:chExt cx="2231875" cy="559333"/>
          </a:xfrm>
        </p:grpSpPr>
        <p:sp>
          <p:nvSpPr>
            <p:cNvPr name="Freeform 25" id="25"/>
            <p:cNvSpPr/>
            <p:nvPr/>
          </p:nvSpPr>
          <p:spPr>
            <a:xfrm flipH="false" flipV="false" rot="0">
              <a:off x="0" y="0"/>
              <a:ext cx="2231875" cy="559333"/>
            </a:xfrm>
            <a:custGeom>
              <a:avLst/>
              <a:gdLst/>
              <a:ahLst/>
              <a:cxnLst/>
              <a:rect r="r" b="b" t="t" l="l"/>
              <a:pathLst>
                <a:path h="559333" w="2231875">
                  <a:moveTo>
                    <a:pt x="0" y="0"/>
                  </a:moveTo>
                  <a:lnTo>
                    <a:pt x="2231875" y="0"/>
                  </a:lnTo>
                  <a:lnTo>
                    <a:pt x="2231875" y="559333"/>
                  </a:lnTo>
                  <a:lnTo>
                    <a:pt x="0" y="559333"/>
                  </a:lnTo>
                  <a:close/>
                </a:path>
              </a:pathLst>
            </a:custGeom>
            <a:solidFill>
              <a:srgbClr val="213163"/>
            </a:solidFill>
          </p:spPr>
        </p:sp>
        <p:sp>
          <p:nvSpPr>
            <p:cNvPr name="TextBox 26" id="26"/>
            <p:cNvSpPr txBox="true"/>
            <p:nvPr/>
          </p:nvSpPr>
          <p:spPr>
            <a:xfrm>
              <a:off x="0" y="-57150"/>
              <a:ext cx="2231875" cy="616483"/>
            </a:xfrm>
            <a:prstGeom prst="rect">
              <a:avLst/>
            </a:prstGeom>
          </p:spPr>
          <p:txBody>
            <a:bodyPr anchor="ctr" rtlCol="false" tIns="50800" lIns="50800" bIns="50800" rIns="50800"/>
            <a:lstStyle/>
            <a:p>
              <a:pPr algn="l">
                <a:lnSpc>
                  <a:spcPts val="3639"/>
                </a:lnSpc>
              </a:pPr>
              <a:r>
                <a:rPr lang="en-US" sz="2599" b="true">
                  <a:solidFill>
                    <a:srgbClr val="FFFFFF"/>
                  </a:solidFill>
                  <a:latin typeface="Canva Sans Bold"/>
                  <a:ea typeface="Canva Sans Bold"/>
                  <a:cs typeface="Canva Sans Bold"/>
                  <a:sym typeface="Canva Sans Bold"/>
                </a:rPr>
                <a:t>📊 Real-Tim</a:t>
              </a:r>
              <a:r>
                <a:rPr lang="en-US" sz="2599" b="true">
                  <a:solidFill>
                    <a:srgbClr val="FFFFFF"/>
                  </a:solidFill>
                  <a:latin typeface="Canva Sans Bold"/>
                  <a:ea typeface="Canva Sans Bold"/>
                  <a:cs typeface="Canva Sans Bold"/>
                  <a:sym typeface="Canva Sans Bold"/>
                </a:rPr>
                <a:t>e Dashboard</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Live monitoring of energy usage</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Interactive graphs and insights</a:t>
              </a:r>
            </a:p>
            <a:p>
              <a:pPr algn="l">
                <a:lnSpc>
                  <a:spcPts val="3359"/>
                </a:lnSpc>
                <a:spcBef>
                  <a:spcPct val="0"/>
                </a:spcBef>
              </a:pPr>
            </a:p>
          </p:txBody>
        </p:sp>
      </p:grpSp>
      <p:grpSp>
        <p:nvGrpSpPr>
          <p:cNvPr name="Group 27" id="27"/>
          <p:cNvGrpSpPr/>
          <p:nvPr/>
        </p:nvGrpSpPr>
        <p:grpSpPr>
          <a:xfrm rot="0">
            <a:off x="9413799" y="5505856"/>
            <a:ext cx="8474151" cy="2123716"/>
            <a:chOff x="0" y="0"/>
            <a:chExt cx="2231875" cy="559333"/>
          </a:xfrm>
        </p:grpSpPr>
        <p:sp>
          <p:nvSpPr>
            <p:cNvPr name="Freeform 28" id="28"/>
            <p:cNvSpPr/>
            <p:nvPr/>
          </p:nvSpPr>
          <p:spPr>
            <a:xfrm flipH="false" flipV="false" rot="0">
              <a:off x="0" y="0"/>
              <a:ext cx="2231875" cy="559333"/>
            </a:xfrm>
            <a:custGeom>
              <a:avLst/>
              <a:gdLst/>
              <a:ahLst/>
              <a:cxnLst/>
              <a:rect r="r" b="b" t="t" l="l"/>
              <a:pathLst>
                <a:path h="559333" w="2231875">
                  <a:moveTo>
                    <a:pt x="0" y="0"/>
                  </a:moveTo>
                  <a:lnTo>
                    <a:pt x="2231875" y="0"/>
                  </a:lnTo>
                  <a:lnTo>
                    <a:pt x="2231875" y="559333"/>
                  </a:lnTo>
                  <a:lnTo>
                    <a:pt x="0" y="559333"/>
                  </a:lnTo>
                  <a:close/>
                </a:path>
              </a:pathLst>
            </a:custGeom>
            <a:solidFill>
              <a:srgbClr val="213163"/>
            </a:solidFill>
          </p:spPr>
        </p:sp>
        <p:sp>
          <p:nvSpPr>
            <p:cNvPr name="TextBox 29" id="29"/>
            <p:cNvSpPr txBox="true"/>
            <p:nvPr/>
          </p:nvSpPr>
          <p:spPr>
            <a:xfrm>
              <a:off x="0" y="-57150"/>
              <a:ext cx="2231875" cy="616483"/>
            </a:xfrm>
            <a:prstGeom prst="rect">
              <a:avLst/>
            </a:prstGeom>
          </p:spPr>
          <p:txBody>
            <a:bodyPr anchor="ctr" rtlCol="false" tIns="50800" lIns="50800" bIns="50800" rIns="50800"/>
            <a:lstStyle/>
            <a:p>
              <a:pPr algn="l">
                <a:lnSpc>
                  <a:spcPts val="3639"/>
                </a:lnSpc>
              </a:pPr>
              <a:r>
                <a:rPr lang="en-US" sz="2599" b="true">
                  <a:solidFill>
                    <a:srgbClr val="FFFFFF"/>
                  </a:solidFill>
                  <a:latin typeface="Canva Sans Bold"/>
                  <a:ea typeface="Canva Sans Bold"/>
                  <a:cs typeface="Canva Sans Bold"/>
                  <a:sym typeface="Canva Sans Bold"/>
                </a:rPr>
                <a:t>💡 Intelligent Recommendations</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Ac</a:t>
              </a:r>
              <a:r>
                <a:rPr lang="en-US" sz="2399">
                  <a:solidFill>
                    <a:srgbClr val="FFFFFF"/>
                  </a:solidFill>
                  <a:latin typeface="Canva Sans"/>
                  <a:ea typeface="Canva Sans"/>
                  <a:cs typeface="Canva Sans"/>
                  <a:sym typeface="Canva Sans"/>
                </a:rPr>
                <a:t>ts like a personal energy assistant</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Gives smart tips to save electricity</a:t>
              </a:r>
            </a:p>
            <a:p>
              <a:pPr algn="l">
                <a:lnSpc>
                  <a:spcPts val="3359"/>
                </a:lnSpc>
                <a:spcBef>
                  <a:spcPct val="0"/>
                </a:spcBef>
              </a:pPr>
            </a:p>
          </p:txBody>
        </p:sp>
      </p:grpSp>
      <p:grpSp>
        <p:nvGrpSpPr>
          <p:cNvPr name="Group 30" id="30"/>
          <p:cNvGrpSpPr/>
          <p:nvPr/>
        </p:nvGrpSpPr>
        <p:grpSpPr>
          <a:xfrm rot="0">
            <a:off x="9413799" y="7848647"/>
            <a:ext cx="8474151" cy="2123716"/>
            <a:chOff x="0" y="0"/>
            <a:chExt cx="2231875" cy="559333"/>
          </a:xfrm>
        </p:grpSpPr>
        <p:sp>
          <p:nvSpPr>
            <p:cNvPr name="Freeform 31" id="31"/>
            <p:cNvSpPr/>
            <p:nvPr/>
          </p:nvSpPr>
          <p:spPr>
            <a:xfrm flipH="false" flipV="false" rot="0">
              <a:off x="0" y="0"/>
              <a:ext cx="2231875" cy="559333"/>
            </a:xfrm>
            <a:custGeom>
              <a:avLst/>
              <a:gdLst/>
              <a:ahLst/>
              <a:cxnLst/>
              <a:rect r="r" b="b" t="t" l="l"/>
              <a:pathLst>
                <a:path h="559333" w="2231875">
                  <a:moveTo>
                    <a:pt x="0" y="0"/>
                  </a:moveTo>
                  <a:lnTo>
                    <a:pt x="2231875" y="0"/>
                  </a:lnTo>
                  <a:lnTo>
                    <a:pt x="2231875" y="559333"/>
                  </a:lnTo>
                  <a:lnTo>
                    <a:pt x="0" y="559333"/>
                  </a:lnTo>
                  <a:close/>
                </a:path>
              </a:pathLst>
            </a:custGeom>
            <a:solidFill>
              <a:srgbClr val="213163"/>
            </a:solidFill>
          </p:spPr>
        </p:sp>
        <p:sp>
          <p:nvSpPr>
            <p:cNvPr name="TextBox 32" id="32"/>
            <p:cNvSpPr txBox="true"/>
            <p:nvPr/>
          </p:nvSpPr>
          <p:spPr>
            <a:xfrm>
              <a:off x="0" y="-57150"/>
              <a:ext cx="2231875" cy="616483"/>
            </a:xfrm>
            <a:prstGeom prst="rect">
              <a:avLst/>
            </a:prstGeom>
          </p:spPr>
          <p:txBody>
            <a:bodyPr anchor="ctr" rtlCol="false" tIns="50800" lIns="50800" bIns="50800" rIns="50800"/>
            <a:lstStyle/>
            <a:p>
              <a:pPr algn="l">
                <a:lnSpc>
                  <a:spcPts val="3639"/>
                </a:lnSpc>
              </a:pPr>
              <a:r>
                <a:rPr lang="en-US" sz="2599" b="true">
                  <a:solidFill>
                    <a:srgbClr val="FFFFFF"/>
                  </a:solidFill>
                  <a:latin typeface="Canva Sans Bold"/>
                  <a:ea typeface="Canva Sans Bold"/>
                  <a:cs typeface="Canva Sans Bold"/>
                  <a:sym typeface="Canva Sans Bold"/>
                </a:rPr>
                <a:t>🌱 Eco-Friendly Impact</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Reduce</a:t>
              </a:r>
              <a:r>
                <a:rPr lang="en-US" sz="2399">
                  <a:solidFill>
                    <a:srgbClr val="FFFFFF"/>
                  </a:solidFill>
                  <a:latin typeface="Canva Sans"/>
                  <a:ea typeface="Canva Sans"/>
                  <a:cs typeface="Canva Sans"/>
                  <a:sym typeface="Canva Sans"/>
                </a:rPr>
                <a:t>s carbon footprint</a:t>
              </a:r>
            </a:p>
            <a:p>
              <a:pPr algn="l" marL="518157" indent="-259078" lvl="1">
                <a:lnSpc>
                  <a:spcPts val="3359"/>
                </a:lnSpc>
                <a:buFont typeface="Arial"/>
                <a:buChar char="•"/>
              </a:pPr>
              <a:r>
                <a:rPr lang="en-US" sz="2399">
                  <a:solidFill>
                    <a:srgbClr val="FFFFFF"/>
                  </a:solidFill>
                  <a:latin typeface="Canva Sans"/>
                  <a:ea typeface="Canva Sans"/>
                  <a:cs typeface="Canva Sans"/>
                  <a:sym typeface="Canva Sans"/>
                </a:rPr>
                <a:t>Support</a:t>
              </a:r>
              <a:r>
                <a:rPr lang="en-US" sz="2399">
                  <a:solidFill>
                    <a:srgbClr val="FFFFFF"/>
                  </a:solidFill>
                  <a:latin typeface="Canva Sans"/>
                  <a:ea typeface="Canva Sans"/>
                  <a:cs typeface="Canva Sans"/>
                  <a:sym typeface="Canva Sans"/>
                </a:rPr>
                <a:t>s sustainable energy usage</a:t>
              </a:r>
            </a:p>
            <a:p>
              <a:pPr algn="l">
                <a:lnSpc>
                  <a:spcPts val="33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Freeform 13" id="13"/>
          <p:cNvSpPr/>
          <p:nvPr/>
        </p:nvSpPr>
        <p:spPr>
          <a:xfrm flipH="false" flipV="false" rot="0">
            <a:off x="1028700" y="2133785"/>
            <a:ext cx="17259300" cy="8234316"/>
          </a:xfrm>
          <a:custGeom>
            <a:avLst/>
            <a:gdLst/>
            <a:ahLst/>
            <a:cxnLst/>
            <a:rect r="r" b="b" t="t" l="l"/>
            <a:pathLst>
              <a:path h="8234316" w="17259300">
                <a:moveTo>
                  <a:pt x="0" y="0"/>
                </a:moveTo>
                <a:lnTo>
                  <a:pt x="17259300" y="0"/>
                </a:lnTo>
                <a:lnTo>
                  <a:pt x="17259300" y="8234317"/>
                </a:lnTo>
                <a:lnTo>
                  <a:pt x="0" y="8234317"/>
                </a:lnTo>
                <a:lnTo>
                  <a:pt x="0" y="0"/>
                </a:lnTo>
                <a:close/>
              </a:path>
            </a:pathLst>
          </a:custGeom>
          <a:blipFill>
            <a:blip r:embed="rId4"/>
            <a:stretch>
              <a:fillRect l="0" t="-19823" r="0" b="-19823"/>
            </a:stretch>
          </a:blipFill>
        </p:spPr>
      </p:sp>
      <p:sp>
        <p:nvSpPr>
          <p:cNvPr name="TextBox 14" id="14"/>
          <p:cNvSpPr txBox="true"/>
          <p:nvPr/>
        </p:nvSpPr>
        <p:spPr>
          <a:xfrm rot="0">
            <a:off x="470745" y="1352735"/>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Block Diagram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3" id="13"/>
          <p:cNvGrpSpPr/>
          <p:nvPr/>
        </p:nvGrpSpPr>
        <p:grpSpPr>
          <a:xfrm rot="0">
            <a:off x="394545" y="2371296"/>
            <a:ext cx="8749455" cy="7729590"/>
            <a:chOff x="0" y="0"/>
            <a:chExt cx="2304383" cy="2035777"/>
          </a:xfrm>
        </p:grpSpPr>
        <p:sp>
          <p:nvSpPr>
            <p:cNvPr name="Freeform 14" id="14"/>
            <p:cNvSpPr/>
            <p:nvPr/>
          </p:nvSpPr>
          <p:spPr>
            <a:xfrm flipH="false" flipV="false" rot="0">
              <a:off x="0" y="0"/>
              <a:ext cx="2304383" cy="2035777"/>
            </a:xfrm>
            <a:custGeom>
              <a:avLst/>
              <a:gdLst/>
              <a:ahLst/>
              <a:cxnLst/>
              <a:rect r="r" b="b" t="t" l="l"/>
              <a:pathLst>
                <a:path h="2035777" w="2304383">
                  <a:moveTo>
                    <a:pt x="0" y="0"/>
                  </a:moveTo>
                  <a:lnTo>
                    <a:pt x="2304383" y="0"/>
                  </a:lnTo>
                  <a:lnTo>
                    <a:pt x="2304383" y="2035777"/>
                  </a:lnTo>
                  <a:lnTo>
                    <a:pt x="0" y="2035777"/>
                  </a:lnTo>
                  <a:close/>
                </a:path>
              </a:pathLst>
            </a:custGeom>
            <a:solidFill>
              <a:srgbClr val="00BF63"/>
            </a:solidFill>
          </p:spPr>
        </p:sp>
        <p:sp>
          <p:nvSpPr>
            <p:cNvPr name="TextBox 15" id="15"/>
            <p:cNvSpPr txBox="true"/>
            <p:nvPr/>
          </p:nvSpPr>
          <p:spPr>
            <a:xfrm>
              <a:off x="0" y="-76200"/>
              <a:ext cx="2304383" cy="2111977"/>
            </a:xfrm>
            <a:prstGeom prst="rect">
              <a:avLst/>
            </a:prstGeom>
          </p:spPr>
          <p:txBody>
            <a:bodyPr anchor="ctr" rtlCol="false" tIns="50800" lIns="50800" bIns="50800" rIns="50800"/>
            <a:lstStyle/>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Programming Language: Python</a:t>
              </a:r>
            </a:p>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Data Processing: NumPy, Pandas</a:t>
              </a:r>
            </a:p>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M</a:t>
              </a:r>
              <a:r>
                <a:rPr lang="en-US" sz="3799">
                  <a:solidFill>
                    <a:srgbClr val="FFFFFF"/>
                  </a:solidFill>
                  <a:latin typeface="Canva Sans"/>
                  <a:ea typeface="Canva Sans"/>
                  <a:cs typeface="Canva Sans"/>
                  <a:sym typeface="Canva Sans"/>
                </a:rPr>
                <a:t>achine Learning: Scikit-learn</a:t>
              </a:r>
            </a:p>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Deep</a:t>
              </a:r>
              <a:r>
                <a:rPr lang="en-US" sz="3799">
                  <a:solidFill>
                    <a:srgbClr val="FFFFFF"/>
                  </a:solidFill>
                  <a:latin typeface="Canva Sans"/>
                  <a:ea typeface="Canva Sans"/>
                  <a:cs typeface="Canva Sans"/>
                  <a:sym typeface="Canva Sans"/>
                </a:rPr>
                <a:t> Learning: TensorFlow, Keras</a:t>
              </a:r>
            </a:p>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D</a:t>
              </a:r>
              <a:r>
                <a:rPr lang="en-US" sz="3799">
                  <a:solidFill>
                    <a:srgbClr val="FFFFFF"/>
                  </a:solidFill>
                  <a:latin typeface="Canva Sans"/>
                  <a:ea typeface="Canva Sans"/>
                  <a:cs typeface="Canva Sans"/>
                  <a:sym typeface="Canva Sans"/>
                </a:rPr>
                <a:t>ata Visualization: Matplotlib</a:t>
              </a:r>
            </a:p>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Development Tools: Jupyter Notebook, Google</a:t>
              </a:r>
              <a:r>
                <a:rPr lang="en-US" sz="3799">
                  <a:solidFill>
                    <a:srgbClr val="FFFFFF"/>
                  </a:solidFill>
                  <a:latin typeface="Canva Sans"/>
                  <a:ea typeface="Canva Sans"/>
                  <a:cs typeface="Canva Sans"/>
                  <a:sym typeface="Canva Sans"/>
                </a:rPr>
                <a:t> Colab</a:t>
              </a:r>
            </a:p>
            <a:p>
              <a:pPr algn="l" marL="820409" indent="-410205" lvl="1">
                <a:lnSpc>
                  <a:spcPts val="5319"/>
                </a:lnSpc>
                <a:buFont typeface="Arial"/>
                <a:buChar char="•"/>
              </a:pPr>
              <a:r>
                <a:rPr lang="en-US" sz="3799">
                  <a:solidFill>
                    <a:srgbClr val="FFFFFF"/>
                  </a:solidFill>
                  <a:latin typeface="Canva Sans"/>
                  <a:ea typeface="Canva Sans"/>
                  <a:cs typeface="Canva Sans"/>
                  <a:sym typeface="Canva Sans"/>
                </a:rPr>
                <a:t>D</a:t>
              </a:r>
              <a:r>
                <a:rPr lang="en-US" sz="3799">
                  <a:solidFill>
                    <a:srgbClr val="FFFFFF"/>
                  </a:solidFill>
                  <a:latin typeface="Canva Sans"/>
                  <a:ea typeface="Canva Sans"/>
                  <a:cs typeface="Canva Sans"/>
                  <a:sym typeface="Canva Sans"/>
                </a:rPr>
                <a:t>ataset: CSV files / public energy datasets</a:t>
              </a:r>
            </a:p>
            <a:p>
              <a:pPr algn="l">
                <a:lnSpc>
                  <a:spcPts val="5319"/>
                </a:lnSpc>
                <a:spcBef>
                  <a:spcPct val="0"/>
                </a:spcBef>
              </a:pPr>
            </a:p>
          </p:txBody>
        </p:sp>
      </p:grpSp>
      <p:grpSp>
        <p:nvGrpSpPr>
          <p:cNvPr name="Group 16" id="16"/>
          <p:cNvGrpSpPr/>
          <p:nvPr/>
        </p:nvGrpSpPr>
        <p:grpSpPr>
          <a:xfrm rot="0">
            <a:off x="10308616" y="2371296"/>
            <a:ext cx="7500753" cy="7729590"/>
            <a:chOff x="0" y="0"/>
            <a:chExt cx="1975507" cy="2035777"/>
          </a:xfrm>
        </p:grpSpPr>
        <p:sp>
          <p:nvSpPr>
            <p:cNvPr name="Freeform 17" id="17"/>
            <p:cNvSpPr/>
            <p:nvPr/>
          </p:nvSpPr>
          <p:spPr>
            <a:xfrm flipH="false" flipV="false" rot="0">
              <a:off x="0" y="0"/>
              <a:ext cx="1975507" cy="2035777"/>
            </a:xfrm>
            <a:custGeom>
              <a:avLst/>
              <a:gdLst/>
              <a:ahLst/>
              <a:cxnLst/>
              <a:rect r="r" b="b" t="t" l="l"/>
              <a:pathLst>
                <a:path h="2035777" w="1975507">
                  <a:moveTo>
                    <a:pt x="0" y="0"/>
                  </a:moveTo>
                  <a:lnTo>
                    <a:pt x="1975507" y="0"/>
                  </a:lnTo>
                  <a:lnTo>
                    <a:pt x="1975507" y="2035777"/>
                  </a:lnTo>
                  <a:lnTo>
                    <a:pt x="0" y="2035777"/>
                  </a:lnTo>
                  <a:close/>
                </a:path>
              </a:pathLst>
            </a:custGeom>
            <a:solidFill>
              <a:srgbClr val="213163"/>
            </a:solidFill>
          </p:spPr>
        </p:sp>
        <p:sp>
          <p:nvSpPr>
            <p:cNvPr name="TextBox 18" id="18"/>
            <p:cNvSpPr txBox="true"/>
            <p:nvPr/>
          </p:nvSpPr>
          <p:spPr>
            <a:xfrm>
              <a:off x="0" y="-47625"/>
              <a:ext cx="1975507" cy="2083402"/>
            </a:xfrm>
            <a:prstGeom prst="rect">
              <a:avLst/>
            </a:prstGeom>
          </p:spPr>
          <p:txBody>
            <a:bodyPr anchor="ctr" rtlCol="false" tIns="50800" lIns="50800" bIns="50800" rIns="50800"/>
            <a:lstStyle/>
            <a:p>
              <a:pPr algn="l">
                <a:lnSpc>
                  <a:spcPts val="4199"/>
                </a:lnSpc>
                <a:spcBef>
                  <a:spcPct val="0"/>
                </a:spcBef>
              </a:pPr>
            </a:p>
          </p:txBody>
        </p:sp>
      </p:grpSp>
      <p:sp>
        <p:nvSpPr>
          <p:cNvPr name="Freeform 19" id="19"/>
          <p:cNvSpPr/>
          <p:nvPr/>
        </p:nvSpPr>
        <p:spPr>
          <a:xfrm flipH="false" flipV="false" rot="0">
            <a:off x="15577880" y="2371296"/>
            <a:ext cx="2085888" cy="2085888"/>
          </a:xfrm>
          <a:custGeom>
            <a:avLst/>
            <a:gdLst/>
            <a:ahLst/>
            <a:cxnLst/>
            <a:rect r="r" b="b" t="t" l="l"/>
            <a:pathLst>
              <a:path h="2085888" w="2085888">
                <a:moveTo>
                  <a:pt x="0" y="0"/>
                </a:moveTo>
                <a:lnTo>
                  <a:pt x="2085887" y="0"/>
                </a:lnTo>
                <a:lnTo>
                  <a:pt x="2085887" y="2085888"/>
                </a:lnTo>
                <a:lnTo>
                  <a:pt x="0" y="2085888"/>
                </a:lnTo>
                <a:lnTo>
                  <a:pt x="0" y="0"/>
                </a:lnTo>
                <a:close/>
              </a:path>
            </a:pathLst>
          </a:custGeom>
          <a:blipFill>
            <a:blip r:embed="rId4"/>
            <a:stretch>
              <a:fillRect l="0" t="0" r="0" b="0"/>
            </a:stretch>
          </a:blipFill>
        </p:spPr>
      </p:sp>
      <p:sp>
        <p:nvSpPr>
          <p:cNvPr name="Freeform 20" id="20"/>
          <p:cNvSpPr/>
          <p:nvPr/>
        </p:nvSpPr>
        <p:spPr>
          <a:xfrm flipH="false" flipV="false" rot="0">
            <a:off x="10711407" y="2555368"/>
            <a:ext cx="4047581" cy="2127592"/>
          </a:xfrm>
          <a:custGeom>
            <a:avLst/>
            <a:gdLst/>
            <a:ahLst/>
            <a:cxnLst/>
            <a:rect r="r" b="b" t="t" l="l"/>
            <a:pathLst>
              <a:path h="2127592" w="4047581">
                <a:moveTo>
                  <a:pt x="0" y="0"/>
                </a:moveTo>
                <a:lnTo>
                  <a:pt x="4047581" y="0"/>
                </a:lnTo>
                <a:lnTo>
                  <a:pt x="4047581" y="2127592"/>
                </a:lnTo>
                <a:lnTo>
                  <a:pt x="0" y="2127592"/>
                </a:lnTo>
                <a:lnTo>
                  <a:pt x="0" y="0"/>
                </a:lnTo>
                <a:close/>
              </a:path>
            </a:pathLst>
          </a:custGeom>
          <a:blipFill>
            <a:blip r:embed="rId5"/>
            <a:stretch>
              <a:fillRect l="0" t="0" r="0" b="-6820"/>
            </a:stretch>
          </a:blipFill>
        </p:spPr>
      </p:sp>
      <p:sp>
        <p:nvSpPr>
          <p:cNvPr name="Freeform 21" id="21"/>
          <p:cNvSpPr/>
          <p:nvPr/>
        </p:nvSpPr>
        <p:spPr>
          <a:xfrm flipH="false" flipV="false" rot="0">
            <a:off x="12106208" y="5386850"/>
            <a:ext cx="3471672" cy="3471672"/>
          </a:xfrm>
          <a:custGeom>
            <a:avLst/>
            <a:gdLst/>
            <a:ahLst/>
            <a:cxnLst/>
            <a:rect r="r" b="b" t="t" l="l"/>
            <a:pathLst>
              <a:path h="3471672" w="3471672">
                <a:moveTo>
                  <a:pt x="0" y="0"/>
                </a:moveTo>
                <a:lnTo>
                  <a:pt x="3471672" y="0"/>
                </a:lnTo>
                <a:lnTo>
                  <a:pt x="3471672" y="3471672"/>
                </a:lnTo>
                <a:lnTo>
                  <a:pt x="0" y="3471672"/>
                </a:lnTo>
                <a:lnTo>
                  <a:pt x="0" y="0"/>
                </a:lnTo>
                <a:close/>
              </a:path>
            </a:pathLst>
          </a:custGeom>
          <a:blipFill>
            <a:blip r:embed="rId6"/>
            <a:stretch>
              <a:fillRect l="0" t="0" r="0" b="0"/>
            </a:stretch>
          </a:blipFill>
        </p:spPr>
      </p:sp>
      <p:sp>
        <p:nvSpPr>
          <p:cNvPr name="TextBox 22" id="22"/>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Technology Stack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grpSp>
        <p:nvGrpSpPr>
          <p:cNvPr name="Group 13" id="13"/>
          <p:cNvGrpSpPr/>
          <p:nvPr/>
        </p:nvGrpSpPr>
        <p:grpSpPr>
          <a:xfrm rot="0">
            <a:off x="793750" y="2186641"/>
            <a:ext cx="7609372" cy="7071659"/>
            <a:chOff x="0" y="0"/>
            <a:chExt cx="2004114" cy="1862495"/>
          </a:xfrm>
        </p:grpSpPr>
        <p:sp>
          <p:nvSpPr>
            <p:cNvPr name="Freeform 14" id="14"/>
            <p:cNvSpPr/>
            <p:nvPr/>
          </p:nvSpPr>
          <p:spPr>
            <a:xfrm flipH="false" flipV="false" rot="0">
              <a:off x="0" y="0"/>
              <a:ext cx="2004114" cy="1862495"/>
            </a:xfrm>
            <a:custGeom>
              <a:avLst/>
              <a:gdLst/>
              <a:ahLst/>
              <a:cxnLst/>
              <a:rect r="r" b="b" t="t" l="l"/>
              <a:pathLst>
                <a:path h="1862495" w="2004114">
                  <a:moveTo>
                    <a:pt x="0" y="0"/>
                  </a:moveTo>
                  <a:lnTo>
                    <a:pt x="2004114" y="0"/>
                  </a:lnTo>
                  <a:lnTo>
                    <a:pt x="2004114" y="1862495"/>
                  </a:lnTo>
                  <a:lnTo>
                    <a:pt x="0" y="1862495"/>
                  </a:lnTo>
                  <a:close/>
                </a:path>
              </a:pathLst>
            </a:custGeom>
            <a:solidFill>
              <a:srgbClr val="213264"/>
            </a:solidFill>
          </p:spPr>
        </p:sp>
        <p:sp>
          <p:nvSpPr>
            <p:cNvPr name="TextBox 15" id="15"/>
            <p:cNvSpPr txBox="true"/>
            <p:nvPr/>
          </p:nvSpPr>
          <p:spPr>
            <a:xfrm>
              <a:off x="0" y="-76200"/>
              <a:ext cx="2004114" cy="1938695"/>
            </a:xfrm>
            <a:prstGeom prst="rect">
              <a:avLst/>
            </a:prstGeom>
          </p:spPr>
          <p:txBody>
            <a:bodyPr anchor="ctr" rtlCol="false" tIns="304800" lIns="304800" bIns="304800" rIns="304800"/>
            <a:lstStyle/>
            <a:p>
              <a:pPr algn="l">
                <a:lnSpc>
                  <a:spcPts val="4499"/>
                </a:lnSpc>
              </a:pPr>
              <a:r>
                <a:rPr lang="en-US" sz="2999" b="true">
                  <a:solidFill>
                    <a:srgbClr val="FFFFFF"/>
                  </a:solidFill>
                  <a:latin typeface="Canva Sans Bold"/>
                  <a:ea typeface="Canva Sans Bold"/>
                  <a:cs typeface="Canva Sans Bold"/>
                  <a:sym typeface="Canva Sans Bold"/>
                </a:rPr>
                <a:t>📊 Accurate Energy Prediction</a:t>
              </a:r>
            </a:p>
            <a:p>
              <a:pPr algn="l">
                <a:lnSpc>
                  <a:spcPts val="4349"/>
                </a:lnSpc>
              </a:pPr>
              <a:r>
                <a:rPr lang="en-US" sz="2899">
                  <a:solidFill>
                    <a:srgbClr val="FFFFFF"/>
                  </a:solidFill>
                  <a:latin typeface="Canva Sans"/>
                  <a:ea typeface="Canva Sans"/>
                  <a:cs typeface="Canva Sans"/>
                  <a:sym typeface="Canva Sans"/>
                </a:rPr>
                <a:t> Successfully predicts future energy consumption using ML/DL models</a:t>
              </a:r>
            </a:p>
            <a:p>
              <a:pPr algn="l">
                <a:lnSpc>
                  <a:spcPts val="4499"/>
                </a:lnSpc>
              </a:pPr>
              <a:r>
                <a:rPr lang="en-US" sz="2999" b="true">
                  <a:solidFill>
                    <a:srgbClr val="FFFFFF"/>
                  </a:solidFill>
                  <a:latin typeface="Canva Sans Bold"/>
                  <a:ea typeface="Canva Sans Bold"/>
                  <a:cs typeface="Canva Sans Bold"/>
                  <a:sym typeface="Canva Sans Bold"/>
                </a:rPr>
                <a:t>📉 Reduction in Energy Wastage</a:t>
              </a:r>
            </a:p>
            <a:p>
              <a:pPr algn="l">
                <a:lnSpc>
                  <a:spcPts val="4349"/>
                </a:lnSpc>
              </a:pPr>
              <a:r>
                <a:rPr lang="en-US" sz="2899">
                  <a:solidFill>
                    <a:srgbClr val="FFFFFF"/>
                  </a:solidFill>
                  <a:latin typeface="Canva Sans"/>
                  <a:ea typeface="Canva Sans"/>
                  <a:cs typeface="Canva Sans"/>
                  <a:sym typeface="Canva Sans"/>
                </a:rPr>
                <a:t> Identifies unnecessary usage and helps minimize power loss</a:t>
              </a:r>
            </a:p>
            <a:p>
              <a:pPr algn="l">
                <a:lnSpc>
                  <a:spcPts val="4499"/>
                </a:lnSpc>
              </a:pPr>
              <a:r>
                <a:rPr lang="en-US" sz="2999" b="true">
                  <a:solidFill>
                    <a:srgbClr val="FFFFFF"/>
                  </a:solidFill>
                  <a:latin typeface="Canva Sans Bold"/>
                  <a:ea typeface="Canva Sans Bold"/>
                  <a:cs typeface="Canva Sans Bold"/>
                  <a:sym typeface="Canva Sans Bold"/>
                </a:rPr>
                <a:t>⚡ Peak Load Identification</a:t>
              </a:r>
            </a:p>
            <a:p>
              <a:pPr algn="l">
                <a:lnSpc>
                  <a:spcPts val="4349"/>
                </a:lnSpc>
              </a:pPr>
              <a:r>
                <a:rPr lang="en-US" sz="2899">
                  <a:solidFill>
                    <a:srgbClr val="FFFFFF"/>
                  </a:solidFill>
                  <a:latin typeface="Canva Sans"/>
                  <a:ea typeface="Canva Sans"/>
                  <a:cs typeface="Canva Sans"/>
                  <a:sym typeface="Canva Sans"/>
                </a:rPr>
                <a:t> Detects high energy consumption periods for better planning</a:t>
              </a:r>
            </a:p>
            <a:p>
              <a:pPr algn="l">
                <a:lnSpc>
                  <a:spcPts val="4499"/>
                </a:lnSpc>
              </a:pPr>
              <a:r>
                <a:rPr lang="en-US" sz="2999" b="true">
                  <a:solidFill>
                    <a:srgbClr val="FFFFFF"/>
                  </a:solidFill>
                  <a:latin typeface="Canva Sans Bold"/>
                  <a:ea typeface="Canva Sans Bold"/>
                  <a:cs typeface="Canva Sans Bold"/>
                  <a:sym typeface="Canva Sans Bold"/>
                </a:rPr>
                <a:t>💰 Cost Optimization</a:t>
              </a:r>
            </a:p>
            <a:p>
              <a:pPr algn="l">
                <a:lnSpc>
                  <a:spcPts val="4349"/>
                </a:lnSpc>
              </a:pPr>
              <a:r>
                <a:rPr lang="en-US" sz="2899">
                  <a:solidFill>
                    <a:srgbClr val="FFFFFF"/>
                  </a:solidFill>
                  <a:latin typeface="Canva Sans"/>
                  <a:ea typeface="Canva Sans"/>
                  <a:cs typeface="Canva Sans"/>
                  <a:sym typeface="Canva Sans"/>
                </a:rPr>
                <a:t> Helps in reducing electricity bills through smart usage</a:t>
              </a:r>
            </a:p>
          </p:txBody>
        </p:sp>
      </p:grpSp>
      <p:grpSp>
        <p:nvGrpSpPr>
          <p:cNvPr name="Group 16" id="16"/>
          <p:cNvGrpSpPr/>
          <p:nvPr/>
        </p:nvGrpSpPr>
        <p:grpSpPr>
          <a:xfrm rot="0">
            <a:off x="9067800" y="5807583"/>
            <a:ext cx="8191500" cy="3961799"/>
            <a:chOff x="0" y="0"/>
            <a:chExt cx="2157432" cy="1043437"/>
          </a:xfrm>
        </p:grpSpPr>
        <p:sp>
          <p:nvSpPr>
            <p:cNvPr name="Freeform 17" id="17"/>
            <p:cNvSpPr/>
            <p:nvPr/>
          </p:nvSpPr>
          <p:spPr>
            <a:xfrm flipH="false" flipV="false" rot="0">
              <a:off x="0" y="0"/>
              <a:ext cx="2157432" cy="1043437"/>
            </a:xfrm>
            <a:custGeom>
              <a:avLst/>
              <a:gdLst/>
              <a:ahLst/>
              <a:cxnLst/>
              <a:rect r="r" b="b" t="t" l="l"/>
              <a:pathLst>
                <a:path h="1043437" w="2157432">
                  <a:moveTo>
                    <a:pt x="0" y="0"/>
                  </a:moveTo>
                  <a:lnTo>
                    <a:pt x="2157432" y="0"/>
                  </a:lnTo>
                  <a:lnTo>
                    <a:pt x="2157432" y="1043437"/>
                  </a:lnTo>
                  <a:lnTo>
                    <a:pt x="0" y="1043437"/>
                  </a:lnTo>
                  <a:close/>
                </a:path>
              </a:pathLst>
            </a:custGeom>
            <a:solidFill>
              <a:srgbClr val="213264"/>
            </a:solidFill>
          </p:spPr>
        </p:sp>
        <p:sp>
          <p:nvSpPr>
            <p:cNvPr name="TextBox 18" id="18"/>
            <p:cNvSpPr txBox="true"/>
            <p:nvPr/>
          </p:nvSpPr>
          <p:spPr>
            <a:xfrm>
              <a:off x="0" y="-57150"/>
              <a:ext cx="2157432" cy="1100587"/>
            </a:xfrm>
            <a:prstGeom prst="rect">
              <a:avLst/>
            </a:prstGeom>
          </p:spPr>
          <p:txBody>
            <a:bodyPr anchor="ctr" rtlCol="false" tIns="304800" lIns="304800" bIns="304800" rIns="304800"/>
            <a:lstStyle/>
            <a:p>
              <a:pPr algn="l">
                <a:lnSpc>
                  <a:spcPts val="3599"/>
                </a:lnSpc>
              </a:pPr>
              <a:r>
                <a:rPr lang="en-US" sz="2399">
                  <a:solidFill>
                    <a:srgbClr val="FFFFFF"/>
                  </a:solidFill>
                  <a:latin typeface="Canva Sans"/>
                  <a:ea typeface="Canva Sans"/>
                  <a:cs typeface="Canva Sans"/>
                  <a:sym typeface="Canva Sans"/>
                </a:rPr>
                <a:t>📈</a:t>
              </a:r>
              <a:r>
                <a:rPr lang="en-US" sz="2399" b="true">
                  <a:solidFill>
                    <a:srgbClr val="FFFFFF"/>
                  </a:solidFill>
                  <a:latin typeface="Canva Sans Bold"/>
                  <a:ea typeface="Canva Sans Bold"/>
                  <a:cs typeface="Canva Sans Bold"/>
                  <a:sym typeface="Canva Sans Bold"/>
                </a:rPr>
                <a:t> Data Visualization</a:t>
              </a:r>
            </a:p>
            <a:p>
              <a:pPr algn="l">
                <a:lnSpc>
                  <a:spcPts val="3449"/>
                </a:lnSpc>
              </a:pPr>
              <a:r>
                <a:rPr lang="en-US" sz="2299">
                  <a:solidFill>
                    <a:srgbClr val="FFFFFF"/>
                  </a:solidFill>
                  <a:latin typeface="Canva Sans"/>
                  <a:ea typeface="Canva Sans"/>
                  <a:cs typeface="Canva Sans"/>
                  <a:sym typeface="Canva Sans"/>
                </a:rPr>
                <a:t> Displays energy usage patterns using graphs and dashboards</a:t>
              </a:r>
            </a:p>
            <a:p>
              <a:pPr algn="l">
                <a:lnSpc>
                  <a:spcPts val="3599"/>
                </a:lnSpc>
              </a:pPr>
              <a:r>
                <a:rPr lang="en-US" sz="2399" b="true">
                  <a:solidFill>
                    <a:srgbClr val="FFFFFF"/>
                  </a:solidFill>
                  <a:latin typeface="Canva Sans Bold"/>
                  <a:ea typeface="Canva Sans Bold"/>
                  <a:cs typeface="Canva Sans Bold"/>
                  <a:sym typeface="Canva Sans Bold"/>
                </a:rPr>
                <a:t>🤖 Intelligent Recommendations</a:t>
              </a:r>
            </a:p>
            <a:p>
              <a:pPr algn="l">
                <a:lnSpc>
                  <a:spcPts val="3449"/>
                </a:lnSpc>
              </a:pPr>
              <a:r>
                <a:rPr lang="en-US" sz="2299">
                  <a:solidFill>
                    <a:srgbClr val="FFFFFF"/>
                  </a:solidFill>
                  <a:latin typeface="Canva Sans"/>
                  <a:ea typeface="Canva Sans"/>
                  <a:cs typeface="Canva Sans"/>
                  <a:sym typeface="Canva Sans"/>
                </a:rPr>
                <a:t> Suggests optimal time and ways to use electrical appliances</a:t>
              </a:r>
            </a:p>
            <a:p>
              <a:pPr algn="l">
                <a:lnSpc>
                  <a:spcPts val="3599"/>
                </a:lnSpc>
              </a:pPr>
              <a:r>
                <a:rPr lang="en-US" sz="2399" b="true">
                  <a:solidFill>
                    <a:srgbClr val="FFFFFF"/>
                  </a:solidFill>
                  <a:latin typeface="Canva Sans Bold"/>
                  <a:ea typeface="Canva Sans Bold"/>
                  <a:cs typeface="Canva Sans Bold"/>
                  <a:sym typeface="Canva Sans Bold"/>
                </a:rPr>
                <a:t>🌱 Improved Energy Efficiency</a:t>
              </a:r>
            </a:p>
            <a:p>
              <a:pPr algn="l">
                <a:lnSpc>
                  <a:spcPts val="3449"/>
                </a:lnSpc>
              </a:pPr>
              <a:r>
                <a:rPr lang="en-US" sz="2299">
                  <a:solidFill>
                    <a:srgbClr val="FFFFFF"/>
                  </a:solidFill>
                  <a:latin typeface="Canva Sans"/>
                  <a:ea typeface="Canva Sans"/>
                  <a:cs typeface="Canva Sans"/>
                  <a:sym typeface="Canva Sans"/>
                </a:rPr>
                <a:t> Promotes sustainable and eco-friendly energy usage</a:t>
              </a:r>
            </a:p>
          </p:txBody>
        </p:sp>
      </p:grpSp>
      <p:sp>
        <p:nvSpPr>
          <p:cNvPr name="Freeform 19" id="19"/>
          <p:cNvSpPr/>
          <p:nvPr/>
        </p:nvSpPr>
        <p:spPr>
          <a:xfrm flipH="false" flipV="false" rot="0">
            <a:off x="9067800" y="1504521"/>
            <a:ext cx="8191500" cy="3903361"/>
          </a:xfrm>
          <a:custGeom>
            <a:avLst/>
            <a:gdLst/>
            <a:ahLst/>
            <a:cxnLst/>
            <a:rect r="r" b="b" t="t" l="l"/>
            <a:pathLst>
              <a:path h="3903361" w="8191500">
                <a:moveTo>
                  <a:pt x="0" y="0"/>
                </a:moveTo>
                <a:lnTo>
                  <a:pt x="8191500" y="0"/>
                </a:lnTo>
                <a:lnTo>
                  <a:pt x="8191500" y="3903361"/>
                </a:lnTo>
                <a:lnTo>
                  <a:pt x="0" y="3903361"/>
                </a:lnTo>
                <a:lnTo>
                  <a:pt x="0" y="0"/>
                </a:lnTo>
                <a:close/>
              </a:path>
            </a:pathLst>
          </a:custGeom>
          <a:blipFill>
            <a:blip r:embed="rId4"/>
            <a:stretch>
              <a:fillRect l="0" t="0" r="0" b="0"/>
            </a:stretch>
          </a:blipFill>
        </p:spPr>
      </p:sp>
      <p:sp>
        <p:nvSpPr>
          <p:cNvPr name="TextBox 20" id="20"/>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Result/Outcomes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394545" y="1485471"/>
            <a:ext cx="8673255" cy="527771"/>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Conclusion</a:t>
            </a:r>
          </a:p>
        </p:txBody>
      </p:sp>
      <p:grpSp>
        <p:nvGrpSpPr>
          <p:cNvPr name="Group 14" id="14"/>
          <p:cNvGrpSpPr/>
          <p:nvPr/>
        </p:nvGrpSpPr>
        <p:grpSpPr>
          <a:xfrm rot="0">
            <a:off x="469011" y="2451392"/>
            <a:ext cx="16790289" cy="6100502"/>
            <a:chOff x="0" y="0"/>
            <a:chExt cx="4422134" cy="1606717"/>
          </a:xfrm>
        </p:grpSpPr>
        <p:sp>
          <p:nvSpPr>
            <p:cNvPr name="Freeform 15" id="15"/>
            <p:cNvSpPr/>
            <p:nvPr/>
          </p:nvSpPr>
          <p:spPr>
            <a:xfrm flipH="false" flipV="false" rot="0">
              <a:off x="0" y="0"/>
              <a:ext cx="4422134" cy="1606717"/>
            </a:xfrm>
            <a:custGeom>
              <a:avLst/>
              <a:gdLst/>
              <a:ahLst/>
              <a:cxnLst/>
              <a:rect r="r" b="b" t="t" l="l"/>
              <a:pathLst>
                <a:path h="1606717" w="4422134">
                  <a:moveTo>
                    <a:pt x="0" y="0"/>
                  </a:moveTo>
                  <a:lnTo>
                    <a:pt x="4422134" y="0"/>
                  </a:lnTo>
                  <a:lnTo>
                    <a:pt x="4422134" y="1606717"/>
                  </a:lnTo>
                  <a:lnTo>
                    <a:pt x="0" y="1606717"/>
                  </a:lnTo>
                  <a:close/>
                </a:path>
              </a:pathLst>
            </a:custGeom>
            <a:solidFill>
              <a:srgbClr val="213264"/>
            </a:solidFill>
          </p:spPr>
        </p:sp>
        <p:sp>
          <p:nvSpPr>
            <p:cNvPr name="TextBox 16" id="16"/>
            <p:cNvSpPr txBox="true"/>
            <p:nvPr/>
          </p:nvSpPr>
          <p:spPr>
            <a:xfrm>
              <a:off x="0" y="-76200"/>
              <a:ext cx="4422134" cy="1682917"/>
            </a:xfrm>
            <a:prstGeom prst="rect">
              <a:avLst/>
            </a:prstGeom>
          </p:spPr>
          <p:txBody>
            <a:bodyPr anchor="ctr" rtlCol="false" tIns="304800" lIns="304800" bIns="304800" rIns="304800"/>
            <a:lstStyle/>
            <a:p>
              <a:pPr algn="just">
                <a:lnSpc>
                  <a:spcPts val="4499"/>
                </a:lnSpc>
              </a:pPr>
              <a:r>
                <a:rPr lang="en-US" sz="2999">
                  <a:solidFill>
                    <a:srgbClr val="FFFFFF"/>
                  </a:solidFill>
                  <a:latin typeface="Canva Sans"/>
                  <a:ea typeface="Canva Sans"/>
                  <a:cs typeface="Canva Sans"/>
                  <a:sym typeface="Canva Sans"/>
                </a:rPr>
                <a:t>The AI-Based Energy Consumption Prediction and Optimization System successfully demonstrates how intelligent techniques from </a:t>
              </a:r>
              <a:r>
                <a:rPr lang="en-US" sz="2999">
                  <a:solidFill>
                    <a:srgbClr val="FFFFFF"/>
                  </a:solidFill>
                  <a:latin typeface="Canva Sans"/>
                  <a:ea typeface="Canva Sans"/>
                  <a:cs typeface="Canva Sans"/>
                  <a:sym typeface="Canva Sans"/>
                </a:rPr>
                <a:t>M</a:t>
              </a:r>
              <a:r>
                <a:rPr lang="en-US" sz="2999">
                  <a:solidFill>
                    <a:srgbClr val="FFFFFF"/>
                  </a:solidFill>
                  <a:latin typeface="Canva Sans"/>
                  <a:ea typeface="Canva Sans"/>
                  <a:cs typeface="Canva Sans"/>
                  <a:sym typeface="Canva Sans"/>
                </a:rPr>
                <a:t>achine Learning and Deep</a:t>
              </a:r>
              <a:r>
                <a:rPr lang="en-US" sz="2999">
                  <a:solidFill>
                    <a:srgbClr val="FFFFFF"/>
                  </a:solidFill>
                  <a:latin typeface="Canva Sans"/>
                  <a:ea typeface="Canva Sans"/>
                  <a:cs typeface="Canva Sans"/>
                  <a:sym typeface="Canva Sans"/>
                </a:rPr>
                <a:t> Learning can be used to analyze historical energy data and predict future electricity consumption. The system provides useful insights into energy usage patterns and offers smart suggestions to optimize consumption.</a:t>
              </a:r>
            </a:p>
            <a:p>
              <a:pPr algn="just">
                <a:lnSpc>
                  <a:spcPts val="4499"/>
                </a:lnSpc>
              </a:pPr>
              <a:r>
                <a:rPr lang="en-US" sz="2999">
                  <a:solidFill>
                    <a:srgbClr val="FFFFFF"/>
                  </a:solidFill>
                  <a:latin typeface="Canva Sans"/>
                  <a:ea typeface="Canva Sans"/>
                  <a:cs typeface="Canva Sans"/>
                  <a:sym typeface="Canva Sans"/>
                </a:rPr>
                <a:t>By enabling accurate prediction and data-driven decision-making, the</a:t>
              </a:r>
              <a:r>
                <a:rPr lang="en-US" sz="2999">
                  <a:solidFill>
                    <a:srgbClr val="FFFFFF"/>
                  </a:solidFill>
                  <a:latin typeface="Canva Sans"/>
                  <a:ea typeface="Canva Sans"/>
                  <a:cs typeface="Canva Sans"/>
                  <a:sym typeface="Canva Sans"/>
                </a:rPr>
                <a:t> project helps in reducing energy wastage and lowering electricity costs. It also promotes efficient energy utilization without the need for complex hardware, making it a cost-effective and scalable solution.</a:t>
              </a:r>
            </a:p>
            <a:p>
              <a:pPr algn="just">
                <a:lnSpc>
                  <a:spcPts val="449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394545" y="1485471"/>
            <a:ext cx="8673255" cy="476250"/>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Future Perspective</a:t>
            </a:r>
          </a:p>
        </p:txBody>
      </p:sp>
      <p:grpSp>
        <p:nvGrpSpPr>
          <p:cNvPr name="Group 14" id="14"/>
          <p:cNvGrpSpPr/>
          <p:nvPr/>
        </p:nvGrpSpPr>
        <p:grpSpPr>
          <a:xfrm rot="0">
            <a:off x="1028700" y="2218600"/>
            <a:ext cx="7598670" cy="7039700"/>
            <a:chOff x="0" y="0"/>
            <a:chExt cx="2001296" cy="1854077"/>
          </a:xfrm>
        </p:grpSpPr>
        <p:sp>
          <p:nvSpPr>
            <p:cNvPr name="Freeform 15" id="15"/>
            <p:cNvSpPr/>
            <p:nvPr/>
          </p:nvSpPr>
          <p:spPr>
            <a:xfrm flipH="false" flipV="false" rot="0">
              <a:off x="0" y="0"/>
              <a:ext cx="2001296" cy="1854078"/>
            </a:xfrm>
            <a:custGeom>
              <a:avLst/>
              <a:gdLst/>
              <a:ahLst/>
              <a:cxnLst/>
              <a:rect r="r" b="b" t="t" l="l"/>
              <a:pathLst>
                <a:path h="1854078" w="2001296">
                  <a:moveTo>
                    <a:pt x="0" y="0"/>
                  </a:moveTo>
                  <a:lnTo>
                    <a:pt x="2001296" y="0"/>
                  </a:lnTo>
                  <a:lnTo>
                    <a:pt x="2001296" y="1854078"/>
                  </a:lnTo>
                  <a:lnTo>
                    <a:pt x="0" y="1854078"/>
                  </a:lnTo>
                  <a:close/>
                </a:path>
              </a:pathLst>
            </a:custGeom>
            <a:solidFill>
              <a:srgbClr val="213264"/>
            </a:solidFill>
          </p:spPr>
        </p:sp>
        <p:sp>
          <p:nvSpPr>
            <p:cNvPr name="TextBox 16" id="16"/>
            <p:cNvSpPr txBox="true"/>
            <p:nvPr/>
          </p:nvSpPr>
          <p:spPr>
            <a:xfrm>
              <a:off x="0" y="-85725"/>
              <a:ext cx="2001296" cy="1939802"/>
            </a:xfrm>
            <a:prstGeom prst="rect">
              <a:avLst/>
            </a:prstGeom>
          </p:spPr>
          <p:txBody>
            <a:bodyPr anchor="ctr" rtlCol="false" tIns="304800" lIns="304800" bIns="304800" rIns="304800"/>
            <a:lstStyle/>
            <a:p>
              <a:pPr algn="just">
                <a:lnSpc>
                  <a:spcPts val="4349"/>
                </a:lnSpc>
              </a:pPr>
              <a:r>
                <a:rPr lang="en-US" sz="2899">
                  <a:solidFill>
                    <a:srgbClr val="FFFFFF"/>
                  </a:solidFill>
                  <a:latin typeface="Canva Sans"/>
                  <a:ea typeface="Canva Sans"/>
                  <a:cs typeface="Canva Sans"/>
                  <a:sym typeface="Canva Sans"/>
                </a:rPr>
                <a:t>🌐 Integration with IoT Devices</a:t>
              </a:r>
            </a:p>
            <a:p>
              <a:pPr algn="just">
                <a:lnSpc>
                  <a:spcPts val="4049"/>
                </a:lnSpc>
              </a:pPr>
              <a:r>
                <a:rPr lang="en-US" sz="2699">
                  <a:solidFill>
                    <a:srgbClr val="FFFFFF"/>
                  </a:solidFill>
                  <a:latin typeface="Canva Sans"/>
                  <a:ea typeface="Canva Sans"/>
                  <a:cs typeface="Canva Sans"/>
                  <a:sym typeface="Canva Sans"/>
                </a:rPr>
                <a:t>Real-time data collection using smart meters and sensors</a:t>
              </a:r>
            </a:p>
            <a:p>
              <a:pPr algn="just">
                <a:lnSpc>
                  <a:spcPts val="4349"/>
                </a:lnSpc>
              </a:pPr>
              <a:r>
                <a:rPr lang="en-US" sz="2899">
                  <a:solidFill>
                    <a:srgbClr val="FFFFFF"/>
                  </a:solidFill>
                  <a:latin typeface="Canva Sans"/>
                  <a:ea typeface="Canva Sans"/>
                  <a:cs typeface="Canva Sans"/>
                  <a:sym typeface="Canva Sans"/>
                </a:rPr>
                <a:t>🏠 Smart Home Automation</a:t>
              </a:r>
            </a:p>
            <a:p>
              <a:pPr algn="just">
                <a:lnSpc>
                  <a:spcPts val="4049"/>
                </a:lnSpc>
              </a:pPr>
              <a:r>
                <a:rPr lang="en-US" sz="2699">
                  <a:solidFill>
                    <a:srgbClr val="FFFFFF"/>
                  </a:solidFill>
                  <a:latin typeface="Canva Sans"/>
                  <a:ea typeface="Canva Sans"/>
                  <a:cs typeface="Canva Sans"/>
                  <a:sym typeface="Canva Sans"/>
                </a:rPr>
                <a:t>Automatic control of appliances based on AI predictions</a:t>
              </a:r>
            </a:p>
            <a:p>
              <a:pPr algn="just">
                <a:lnSpc>
                  <a:spcPts val="4349"/>
                </a:lnSpc>
              </a:pPr>
              <a:r>
                <a:rPr lang="en-US" sz="2899">
                  <a:solidFill>
                    <a:srgbClr val="FFFFFF"/>
                  </a:solidFill>
                  <a:latin typeface="Canva Sans"/>
                  <a:ea typeface="Canva Sans"/>
                  <a:cs typeface="Canva Sans"/>
                  <a:sym typeface="Canva Sans"/>
                </a:rPr>
                <a:t>📱 Mobile Application Development</a:t>
              </a:r>
            </a:p>
            <a:p>
              <a:pPr algn="just">
                <a:lnSpc>
                  <a:spcPts val="4049"/>
                </a:lnSpc>
              </a:pPr>
              <a:r>
                <a:rPr lang="en-US" sz="2699">
                  <a:solidFill>
                    <a:srgbClr val="FFFFFF"/>
                  </a:solidFill>
                  <a:latin typeface="Canva Sans"/>
                  <a:ea typeface="Canva Sans"/>
                  <a:cs typeface="Canva Sans"/>
                  <a:sym typeface="Canva Sans"/>
                </a:rPr>
                <a:t>User-friendly app for monitoring and controlling energy usage</a:t>
              </a:r>
            </a:p>
            <a:p>
              <a:pPr algn="just">
                <a:lnSpc>
                  <a:spcPts val="4349"/>
                </a:lnSpc>
              </a:pPr>
              <a:r>
                <a:rPr lang="en-US" sz="2899">
                  <a:solidFill>
                    <a:srgbClr val="FFFFFF"/>
                  </a:solidFill>
                  <a:latin typeface="Canva Sans"/>
                  <a:ea typeface="Canva Sans"/>
                  <a:cs typeface="Canva Sans"/>
                  <a:sym typeface="Canva Sans"/>
                </a:rPr>
                <a:t>🤖 Advanced AI Models</a:t>
              </a:r>
            </a:p>
            <a:p>
              <a:pPr algn="just">
                <a:lnSpc>
                  <a:spcPts val="4049"/>
                </a:lnSpc>
              </a:pPr>
              <a:r>
                <a:rPr lang="en-US" sz="2699">
                  <a:solidFill>
                    <a:srgbClr val="FFFFFF"/>
                  </a:solidFill>
                  <a:latin typeface="Canva Sans"/>
                  <a:ea typeface="Canva Sans"/>
                  <a:cs typeface="Canva Sans"/>
                  <a:sym typeface="Canva Sans"/>
                </a:rPr>
                <a:t>Implementation of Deep Learning models like LSTM for better accuracy</a:t>
              </a:r>
            </a:p>
          </p:txBody>
        </p:sp>
      </p:grpSp>
      <p:grpSp>
        <p:nvGrpSpPr>
          <p:cNvPr name="Group 17" id="17"/>
          <p:cNvGrpSpPr/>
          <p:nvPr/>
        </p:nvGrpSpPr>
        <p:grpSpPr>
          <a:xfrm rot="0">
            <a:off x="9517192" y="2218600"/>
            <a:ext cx="7742108" cy="7039700"/>
            <a:chOff x="0" y="0"/>
            <a:chExt cx="2039074" cy="1854077"/>
          </a:xfrm>
        </p:grpSpPr>
        <p:sp>
          <p:nvSpPr>
            <p:cNvPr name="Freeform 18" id="18"/>
            <p:cNvSpPr/>
            <p:nvPr/>
          </p:nvSpPr>
          <p:spPr>
            <a:xfrm flipH="false" flipV="false" rot="0">
              <a:off x="0" y="0"/>
              <a:ext cx="2039074" cy="1854078"/>
            </a:xfrm>
            <a:custGeom>
              <a:avLst/>
              <a:gdLst/>
              <a:ahLst/>
              <a:cxnLst/>
              <a:rect r="r" b="b" t="t" l="l"/>
              <a:pathLst>
                <a:path h="1854078" w="2039074">
                  <a:moveTo>
                    <a:pt x="0" y="0"/>
                  </a:moveTo>
                  <a:lnTo>
                    <a:pt x="2039074" y="0"/>
                  </a:lnTo>
                  <a:lnTo>
                    <a:pt x="2039074" y="1854078"/>
                  </a:lnTo>
                  <a:lnTo>
                    <a:pt x="0" y="1854078"/>
                  </a:lnTo>
                  <a:close/>
                </a:path>
              </a:pathLst>
            </a:custGeom>
            <a:solidFill>
              <a:srgbClr val="213264"/>
            </a:solidFill>
          </p:spPr>
        </p:sp>
        <p:sp>
          <p:nvSpPr>
            <p:cNvPr name="TextBox 19" id="19"/>
            <p:cNvSpPr txBox="true"/>
            <p:nvPr/>
          </p:nvSpPr>
          <p:spPr>
            <a:xfrm>
              <a:off x="0" y="-76200"/>
              <a:ext cx="2039074" cy="1930277"/>
            </a:xfrm>
            <a:prstGeom prst="rect">
              <a:avLst/>
            </a:prstGeom>
          </p:spPr>
          <p:txBody>
            <a:bodyPr anchor="ctr" rtlCol="false" tIns="304800" lIns="304800" bIns="304800" rIns="304800"/>
            <a:lstStyle/>
            <a:p>
              <a:pPr algn="just">
                <a:lnSpc>
                  <a:spcPts val="4499"/>
                </a:lnSpc>
              </a:pPr>
              <a:r>
                <a:rPr lang="en-US" sz="2999">
                  <a:solidFill>
                    <a:srgbClr val="FFFFFF"/>
                  </a:solidFill>
                  <a:latin typeface="Canva Sans"/>
                  <a:ea typeface="Canva Sans"/>
                  <a:cs typeface="Canva Sans"/>
                  <a:sym typeface="Canva Sans"/>
                </a:rPr>
                <a:t>⚡ Real-Time Optimization System</a:t>
              </a:r>
            </a:p>
            <a:p>
              <a:pPr algn="just">
                <a:lnSpc>
                  <a:spcPts val="4199"/>
                </a:lnSpc>
              </a:pPr>
              <a:r>
                <a:rPr lang="en-US" sz="2799">
                  <a:solidFill>
                    <a:srgbClr val="FFFFFF"/>
                  </a:solidFill>
                  <a:latin typeface="Canva Sans"/>
                  <a:ea typeface="Canva Sans"/>
                  <a:cs typeface="Canva Sans"/>
                  <a:sym typeface="Canva Sans"/>
                </a:rPr>
                <a:t>Automatic scheduling of devices to reduce peak load</a:t>
              </a:r>
            </a:p>
            <a:p>
              <a:pPr algn="just">
                <a:lnSpc>
                  <a:spcPts val="4499"/>
                </a:lnSpc>
              </a:pPr>
              <a:r>
                <a:rPr lang="en-US" sz="2999">
                  <a:solidFill>
                    <a:srgbClr val="FFFFFF"/>
                  </a:solidFill>
                  <a:latin typeface="Canva Sans"/>
                  <a:ea typeface="Canva Sans"/>
                  <a:cs typeface="Canva Sans"/>
                  <a:sym typeface="Canva Sans"/>
                </a:rPr>
                <a:t>🌆 Smart City Implementation</a:t>
              </a:r>
            </a:p>
            <a:p>
              <a:pPr algn="just">
                <a:lnSpc>
                  <a:spcPts val="4199"/>
                </a:lnSpc>
              </a:pPr>
              <a:r>
                <a:rPr lang="en-US" sz="2799">
                  <a:solidFill>
                    <a:srgbClr val="FFFFFF"/>
                  </a:solidFill>
                  <a:latin typeface="Canva Sans"/>
                  <a:ea typeface="Canva Sans"/>
                  <a:cs typeface="Canva Sans"/>
                  <a:sym typeface="Canva Sans"/>
                </a:rPr>
                <a:t>Large-scale deployment for efficient city-wide energy managem</a:t>
              </a:r>
              <a:r>
                <a:rPr lang="en-US" sz="2799">
                  <a:solidFill>
                    <a:srgbClr val="FFFFFF"/>
                  </a:solidFill>
                  <a:latin typeface="Canva Sans"/>
                  <a:ea typeface="Canva Sans"/>
                  <a:cs typeface="Canva Sans"/>
                  <a:sym typeface="Canva Sans"/>
                </a:rPr>
                <a:t>ent</a:t>
              </a:r>
            </a:p>
            <a:p>
              <a:pPr algn="just">
                <a:lnSpc>
                  <a:spcPts val="4499"/>
                </a:lnSpc>
              </a:pPr>
              <a:r>
                <a:rPr lang="en-US" sz="2999">
                  <a:solidFill>
                    <a:srgbClr val="FFFFFF"/>
                  </a:solidFill>
                  <a:latin typeface="Canva Sans"/>
                  <a:ea typeface="Canva Sans"/>
                  <a:cs typeface="Canva Sans"/>
                  <a:sym typeface="Canva Sans"/>
                </a:rPr>
                <a:t>🔋 Renewable Energy Integration</a:t>
              </a:r>
            </a:p>
            <a:p>
              <a:pPr algn="just">
                <a:lnSpc>
                  <a:spcPts val="4199"/>
                </a:lnSpc>
              </a:pPr>
              <a:r>
                <a:rPr lang="en-US" sz="2799">
                  <a:solidFill>
                    <a:srgbClr val="FFFFFF"/>
                  </a:solidFill>
                  <a:latin typeface="Canva Sans"/>
                  <a:ea typeface="Canva Sans"/>
                  <a:cs typeface="Canva Sans"/>
                  <a:sym typeface="Canva Sans"/>
                </a:rPr>
                <a:t>Combine with solar and wind systems for sustainable energy usage</a:t>
              </a:r>
            </a:p>
            <a:p>
              <a:pPr algn="just">
                <a:lnSpc>
                  <a:spcPts val="4499"/>
                </a:lnSpc>
              </a:pPr>
              <a:r>
                <a:rPr lang="en-US" sz="2999">
                  <a:solidFill>
                    <a:srgbClr val="FFFFFF"/>
                  </a:solidFill>
                  <a:latin typeface="Canva Sans"/>
                  <a:ea typeface="Canva Sans"/>
                  <a:cs typeface="Canva Sans"/>
                  <a:sym typeface="Canva Sans"/>
                </a:rPr>
                <a:t>📊 Cloud-Based Dashboard</a:t>
              </a:r>
            </a:p>
            <a:p>
              <a:pPr algn="just">
                <a:lnSpc>
                  <a:spcPts val="4199"/>
                </a:lnSpc>
              </a:pPr>
              <a:r>
                <a:rPr lang="en-US" sz="2799">
                  <a:solidFill>
                    <a:srgbClr val="FFFFFF"/>
                  </a:solidFill>
                  <a:latin typeface="Canva Sans"/>
                  <a:ea typeface="Canva Sans"/>
                  <a:cs typeface="Canva Sans"/>
                  <a:sym typeface="Canva Sans"/>
                </a:rPr>
                <a:t>Remote monitoring and data storage using cloud platforms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394545" y="1485471"/>
            <a:ext cx="8673255" cy="527771"/>
          </a:xfrm>
          <a:prstGeom prst="rect">
            <a:avLst/>
          </a:prstGeom>
        </p:spPr>
        <p:txBody>
          <a:bodyPr anchor="t" rtlCol="false" tIns="0" lIns="0" bIns="0" rIns="0">
            <a:spAutoFit/>
          </a:bodyPr>
          <a:lstStyle/>
          <a:p>
            <a:pPr algn="l">
              <a:lnSpc>
                <a:spcPts val="3600"/>
              </a:lnSpc>
            </a:pPr>
            <a:r>
              <a:rPr lang="en-US" sz="3000" b="true">
                <a:solidFill>
                  <a:srgbClr val="213163"/>
                </a:solidFill>
                <a:latin typeface="Arial Bold"/>
                <a:ea typeface="Arial Bold"/>
                <a:cs typeface="Arial Bold"/>
                <a:sym typeface="Arial Bold"/>
              </a:rPr>
              <a:t>Reference</a:t>
            </a:r>
          </a:p>
        </p:txBody>
      </p:sp>
      <p:grpSp>
        <p:nvGrpSpPr>
          <p:cNvPr name="Group 14" id="14"/>
          <p:cNvGrpSpPr/>
          <p:nvPr/>
        </p:nvGrpSpPr>
        <p:grpSpPr>
          <a:xfrm rot="0">
            <a:off x="394545" y="2013242"/>
            <a:ext cx="16790289" cy="7245058"/>
            <a:chOff x="0" y="0"/>
            <a:chExt cx="4422134" cy="1908163"/>
          </a:xfrm>
        </p:grpSpPr>
        <p:sp>
          <p:nvSpPr>
            <p:cNvPr name="Freeform 15" id="15"/>
            <p:cNvSpPr/>
            <p:nvPr/>
          </p:nvSpPr>
          <p:spPr>
            <a:xfrm flipH="false" flipV="false" rot="0">
              <a:off x="0" y="0"/>
              <a:ext cx="4422134" cy="1908163"/>
            </a:xfrm>
            <a:custGeom>
              <a:avLst/>
              <a:gdLst/>
              <a:ahLst/>
              <a:cxnLst/>
              <a:rect r="r" b="b" t="t" l="l"/>
              <a:pathLst>
                <a:path h="1908163" w="4422134">
                  <a:moveTo>
                    <a:pt x="0" y="0"/>
                  </a:moveTo>
                  <a:lnTo>
                    <a:pt x="4422134" y="0"/>
                  </a:lnTo>
                  <a:lnTo>
                    <a:pt x="4422134" y="1908163"/>
                  </a:lnTo>
                  <a:lnTo>
                    <a:pt x="0" y="1908163"/>
                  </a:lnTo>
                  <a:close/>
                </a:path>
              </a:pathLst>
            </a:custGeom>
            <a:solidFill>
              <a:srgbClr val="213264"/>
            </a:solidFill>
          </p:spPr>
        </p:sp>
        <p:sp>
          <p:nvSpPr>
            <p:cNvPr name="TextBox 16" id="16"/>
            <p:cNvSpPr txBox="true"/>
            <p:nvPr/>
          </p:nvSpPr>
          <p:spPr>
            <a:xfrm>
              <a:off x="0" y="-104775"/>
              <a:ext cx="4422134" cy="2012938"/>
            </a:xfrm>
            <a:prstGeom prst="rect">
              <a:avLst/>
            </a:prstGeom>
          </p:spPr>
          <p:txBody>
            <a:bodyPr anchor="ctr" rtlCol="false" tIns="304800" lIns="304800" bIns="304800" rIns="304800"/>
            <a:lstStyle/>
            <a:p>
              <a:pPr algn="just">
                <a:lnSpc>
                  <a:spcPts val="3840"/>
                </a:lnSpc>
              </a:pPr>
              <a:r>
                <a:rPr lang="en-US" sz="2299">
                  <a:solidFill>
                    <a:srgbClr val="FFFFFF"/>
                  </a:solidFill>
                  <a:latin typeface="Canva Sans"/>
                  <a:ea typeface="Canva Sans"/>
                  <a:cs typeface="Canva Sans"/>
                  <a:sym typeface="Canva Sans"/>
                </a:rPr>
                <a:t>[1] P. W. Khan, Y. Byun, and N. Park, “Machine Learning-Based Approach to Predict Energy Consumption of Renewable and Nonrenewable Power Sources,” Energies, vol. 13, no. 18, pp. 1–20, 2020.</a:t>
              </a:r>
            </a:p>
            <a:p>
              <a:pPr algn="just">
                <a:lnSpc>
                  <a:spcPts val="3840"/>
                </a:lnSpc>
              </a:pPr>
              <a:r>
                <a:rPr lang="en-US" sz="2299">
                  <a:solidFill>
                    <a:srgbClr val="FFFFFF"/>
                  </a:solidFill>
                  <a:latin typeface="Canva Sans"/>
                  <a:ea typeface="Canva Sans"/>
                  <a:cs typeface="Canva Sans"/>
                  <a:sym typeface="Canva Sans"/>
                </a:rPr>
                <a:t>[2] M. H. L. Lee, H. H. Tan, and C. K. Lee, “A Comparative Study of Forecasting Electricity Consumption Using </a:t>
              </a:r>
              <a:r>
                <a:rPr lang="en-US" sz="2299">
                  <a:solidFill>
                    <a:srgbClr val="FFFFFF"/>
                  </a:solidFill>
                  <a:latin typeface="Canva Sans"/>
                  <a:ea typeface="Canva Sans"/>
                  <a:cs typeface="Canva Sans"/>
                  <a:sym typeface="Canva Sans"/>
                </a:rPr>
                <a:t>M</a:t>
              </a:r>
              <a:r>
                <a:rPr lang="en-US" sz="2299">
                  <a:solidFill>
                    <a:srgbClr val="FFFFFF"/>
                  </a:solidFill>
                  <a:latin typeface="Canva Sans"/>
                  <a:ea typeface="Canva Sans"/>
                  <a:cs typeface="Canva Sans"/>
                  <a:sym typeface="Canva Sans"/>
                </a:rPr>
                <a:t>achine Learning Models,”</a:t>
              </a:r>
              <a:r>
                <a:rPr lang="en-US" sz="2299">
                  <a:solidFill>
                    <a:srgbClr val="FFFFFF"/>
                  </a:solidFill>
                  <a:latin typeface="Canva Sans"/>
                  <a:ea typeface="Canva Sans"/>
                  <a:cs typeface="Canva Sans"/>
                  <a:sym typeface="Canva Sans"/>
                </a:rPr>
                <a:t> Mathematics, vol. 10, no. 8, pp. 1–18, 2022.</a:t>
              </a:r>
            </a:p>
            <a:p>
              <a:pPr algn="just">
                <a:lnSpc>
                  <a:spcPts val="3840"/>
                </a:lnSpc>
              </a:pPr>
              <a:r>
                <a:rPr lang="en-US" sz="2299">
                  <a:solidFill>
                    <a:srgbClr val="FFFFFF"/>
                  </a:solidFill>
                  <a:latin typeface="Canva Sans"/>
                  <a:ea typeface="Canva Sans"/>
                  <a:cs typeface="Canva Sans"/>
                  <a:sym typeface="Canva Sans"/>
                </a:rPr>
                <a:t>[3] M. Qureshi, A. Khan, and S. Rehman, “Deep Learning-Based Forecasting of Electricity Consumption,” Scientific Reports, vol. 14, pp. 1–12, 2024.</a:t>
              </a:r>
            </a:p>
            <a:p>
              <a:pPr algn="just">
                <a:lnSpc>
                  <a:spcPts val="3840"/>
                </a:lnSpc>
              </a:pPr>
              <a:r>
                <a:rPr lang="en-US" sz="2299">
                  <a:solidFill>
                    <a:srgbClr val="FFFFFF"/>
                  </a:solidFill>
                  <a:latin typeface="Canva Sans"/>
                  <a:ea typeface="Canva Sans"/>
                  <a:cs typeface="Canva Sans"/>
                  <a:sym typeface="Canva Sans"/>
                </a:rPr>
                <a:t>[4] T. A. Abd’Azeez, A. O. Salau, and M. A. Adebayo, “Machine Learning-Powered Energy Consumption Prediction System with API,” Energy Informatics, vol. 8, no. 1, pp. 1–15, 2025.</a:t>
              </a:r>
            </a:p>
            <a:p>
              <a:pPr algn="just">
                <a:lnSpc>
                  <a:spcPts val="3840"/>
                </a:lnSpc>
              </a:pPr>
              <a:r>
                <a:rPr lang="en-US" sz="2299">
                  <a:solidFill>
                    <a:srgbClr val="FFFFFF"/>
                  </a:solidFill>
                  <a:latin typeface="Canva Sans"/>
                  <a:ea typeface="Canva Sans"/>
                  <a:cs typeface="Canva Sans"/>
                  <a:sym typeface="Canva Sans"/>
                </a:rPr>
                <a:t>[5] I. Hussain, M. Alghamdi, and K. Ahmad, “Evaluating Machine Learning Algorithms for Energy Consumption Prediction in Electric Vehicles,” Scientific Re</a:t>
              </a:r>
              <a:r>
                <a:rPr lang="en-US" sz="2299">
                  <a:solidFill>
                    <a:srgbClr val="FFFFFF"/>
                  </a:solidFill>
                  <a:latin typeface="Canva Sans"/>
                  <a:ea typeface="Canva Sans"/>
                  <a:cs typeface="Canva Sans"/>
                  <a:sym typeface="Canva Sans"/>
                </a:rPr>
                <a:t>ports, vol. 15, pp. 1–14, 2025.</a:t>
              </a:r>
            </a:p>
            <a:p>
              <a:pPr algn="just">
                <a:lnSpc>
                  <a:spcPts val="3840"/>
                </a:lnSpc>
              </a:pPr>
              <a:r>
                <a:rPr lang="en-US" sz="2299">
                  <a:solidFill>
                    <a:srgbClr val="FFFFFF"/>
                  </a:solidFill>
                  <a:latin typeface="Canva Sans"/>
                  <a:ea typeface="Canva Sans"/>
                  <a:cs typeface="Canva Sans"/>
                  <a:sym typeface="Canva Sans"/>
                </a:rPr>
                <a:t>[6] D. Karthik and R. Kumar, “Electricity Consumption Prediction Using Machine Learning,” International Journal of Scientific Research in Science, Engineering and Technology, vol. 10, no. 2, pp. 296–301, 2023.</a:t>
              </a:r>
            </a:p>
            <a:p>
              <a:pPr algn="just">
                <a:lnSpc>
                  <a:spcPts val="3840"/>
                </a:lnSpc>
              </a:pPr>
              <a:r>
                <a:rPr lang="en-US" sz="2299">
                  <a:solidFill>
                    <a:srgbClr val="FFFFFF"/>
                  </a:solidFill>
                  <a:latin typeface="Canva Sans"/>
                  <a:ea typeface="Canva Sans"/>
                  <a:cs typeface="Canva Sans"/>
                  <a:sym typeface="Canva Sans"/>
                </a:rPr>
                <a:t>[7] N. Jain and S. Sharma, “Prediction and Analysis of Household Energy Consumption Using Machine Learning,” International Journal of Renewable Energy Research, vol. 12, no. 3, pp. 1–10, 2022.</a:t>
              </a:r>
            </a:p>
          </p:txBody>
        </p:sp>
      </p:grpSp>
      <p:grpSp>
        <p:nvGrpSpPr>
          <p:cNvPr name="Group 17" id="17"/>
          <p:cNvGrpSpPr/>
          <p:nvPr/>
        </p:nvGrpSpPr>
        <p:grpSpPr>
          <a:xfrm rot="0">
            <a:off x="394545" y="9390294"/>
            <a:ext cx="3768122" cy="896706"/>
            <a:chOff x="0" y="0"/>
            <a:chExt cx="992427" cy="236169"/>
          </a:xfrm>
        </p:grpSpPr>
        <p:sp>
          <p:nvSpPr>
            <p:cNvPr name="Freeform 18" id="18"/>
            <p:cNvSpPr/>
            <p:nvPr/>
          </p:nvSpPr>
          <p:spPr>
            <a:xfrm flipH="false" flipV="false" rot="0">
              <a:off x="0" y="0"/>
              <a:ext cx="992427" cy="236169"/>
            </a:xfrm>
            <a:custGeom>
              <a:avLst/>
              <a:gdLst/>
              <a:ahLst/>
              <a:cxnLst/>
              <a:rect r="r" b="b" t="t" l="l"/>
              <a:pathLst>
                <a:path h="236169" w="992427">
                  <a:moveTo>
                    <a:pt x="0" y="0"/>
                  </a:moveTo>
                  <a:lnTo>
                    <a:pt x="992427" y="0"/>
                  </a:lnTo>
                  <a:lnTo>
                    <a:pt x="992427" y="236169"/>
                  </a:lnTo>
                  <a:lnTo>
                    <a:pt x="0" y="236169"/>
                  </a:lnTo>
                  <a:close/>
                </a:path>
              </a:pathLst>
            </a:custGeom>
            <a:solidFill>
              <a:srgbClr val="213264"/>
            </a:solidFill>
          </p:spPr>
        </p:sp>
        <p:sp>
          <p:nvSpPr>
            <p:cNvPr name="TextBox 19" id="19"/>
            <p:cNvSpPr txBox="true"/>
            <p:nvPr/>
          </p:nvSpPr>
          <p:spPr>
            <a:xfrm>
              <a:off x="0" y="-76200"/>
              <a:ext cx="992427" cy="312369"/>
            </a:xfrm>
            <a:prstGeom prst="rect">
              <a:avLst/>
            </a:prstGeom>
          </p:spPr>
          <p:txBody>
            <a:bodyPr anchor="ctr" rtlCol="false" tIns="304800" lIns="304800" bIns="304800" rIns="304800"/>
            <a:lstStyle/>
            <a:p>
              <a:pPr algn="just">
                <a:lnSpc>
                  <a:spcPts val="4499"/>
                </a:lnSpc>
              </a:pPr>
            </a:p>
          </p:txBody>
        </p:sp>
      </p:grpSp>
      <p:pic>
        <p:nvPicPr>
          <p:cNvPr name="Picture 20" id="20">
            <a:hlinkClick r:id="rId5" tooltip="https://github.com/ShubhamJ-18/AI-Based-Energy-Consumption-Prediction-and-Optimization-System.git"/>
          </p:cNvPr>
          <p:cNvPicPr>
            <a:picLocks noChangeAspect="true"/>
          </p:cNvPicPr>
          <p:nvPr/>
        </p:nvPicPr>
        <p:blipFill>
          <a:blip r:embed="rId4"/>
          <a:stretch>
            <a:fillRect/>
          </a:stretch>
        </p:blipFill>
        <p:spPr>
          <a:xfrm rot="0">
            <a:off x="2682370" y="9302143"/>
            <a:ext cx="980416" cy="1057814"/>
          </a:xfrm>
          <a:prstGeom prst="rect">
            <a:avLst/>
          </a:prstGeom>
        </p:spPr>
      </p:pic>
      <p:sp>
        <p:nvSpPr>
          <p:cNvPr name="TextBox 21" id="21"/>
          <p:cNvSpPr txBox="true"/>
          <p:nvPr/>
        </p:nvSpPr>
        <p:spPr>
          <a:xfrm rot="0">
            <a:off x="-6526789" y="9620250"/>
            <a:ext cx="16011257" cy="373976"/>
          </a:xfrm>
          <a:prstGeom prst="rect">
            <a:avLst/>
          </a:prstGeom>
        </p:spPr>
        <p:txBody>
          <a:bodyPr anchor="t" rtlCol="false" tIns="0" lIns="0" bIns="0" rIns="0">
            <a:spAutoFit/>
          </a:bodyPr>
          <a:lstStyle/>
          <a:p>
            <a:pPr algn="ctr">
              <a:lnSpc>
                <a:spcPts val="3012"/>
              </a:lnSpc>
            </a:pPr>
            <a:r>
              <a:rPr lang="en-US" sz="2151">
                <a:solidFill>
                  <a:srgbClr val="FFFFFF"/>
                </a:solidFill>
                <a:latin typeface="Canva Sans"/>
                <a:ea typeface="Canva Sans"/>
                <a:cs typeface="Canva Sans"/>
                <a:sym typeface="Canva Sans"/>
              </a:rPr>
              <a:t>Git HUB Button: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109031" y="117005"/>
            <a:ext cx="2700338" cy="863270"/>
            <a:chOff x="0" y="0"/>
            <a:chExt cx="3600450" cy="1151026"/>
          </a:xfrm>
        </p:grpSpPr>
        <p:sp>
          <p:nvSpPr>
            <p:cNvPr name="Freeform 3" id="3" descr="A close up of a sign  Description automatically generated"/>
            <p:cNvSpPr/>
            <p:nvPr/>
          </p:nvSpPr>
          <p:spPr>
            <a:xfrm flipH="false" flipV="false" rot="0">
              <a:off x="0" y="0"/>
              <a:ext cx="3600450" cy="1151001"/>
            </a:xfrm>
            <a:custGeom>
              <a:avLst/>
              <a:gdLst/>
              <a:ahLst/>
              <a:cxnLst/>
              <a:rect r="r" b="b" t="t" l="l"/>
              <a:pathLst>
                <a:path h="1151001" w="3600450">
                  <a:moveTo>
                    <a:pt x="0" y="0"/>
                  </a:moveTo>
                  <a:lnTo>
                    <a:pt x="3600450" y="0"/>
                  </a:lnTo>
                  <a:lnTo>
                    <a:pt x="3600450" y="1151001"/>
                  </a:lnTo>
                  <a:lnTo>
                    <a:pt x="0" y="1151001"/>
                  </a:lnTo>
                  <a:lnTo>
                    <a:pt x="0" y="0"/>
                  </a:lnTo>
                  <a:close/>
                </a:path>
              </a:pathLst>
            </a:custGeom>
            <a:blipFill>
              <a:blip r:embed="rId2"/>
              <a:stretch>
                <a:fillRect l="0" t="0" r="0" b="-4570"/>
              </a:stretch>
            </a:blipFill>
          </p:spPr>
        </p:sp>
      </p:grpSp>
      <p:grpSp>
        <p:nvGrpSpPr>
          <p:cNvPr name="Group 4" id="4"/>
          <p:cNvGrpSpPr/>
          <p:nvPr/>
        </p:nvGrpSpPr>
        <p:grpSpPr>
          <a:xfrm rot="0">
            <a:off x="-19050" y="-19050"/>
            <a:ext cx="14782800" cy="1114549"/>
            <a:chOff x="0" y="0"/>
            <a:chExt cx="19710400" cy="1486065"/>
          </a:xfrm>
        </p:grpSpPr>
        <p:sp>
          <p:nvSpPr>
            <p:cNvPr name="Freeform 5" id="5"/>
            <p:cNvSpPr/>
            <p:nvPr/>
          </p:nvSpPr>
          <p:spPr>
            <a:xfrm flipH="false" flipV="false" rot="0">
              <a:off x="25400" y="25400"/>
              <a:ext cx="19659600" cy="1435227"/>
            </a:xfrm>
            <a:custGeom>
              <a:avLst/>
              <a:gdLst/>
              <a:ahLst/>
              <a:cxnLst/>
              <a:rect r="r" b="b" t="t" l="l"/>
              <a:pathLst>
                <a:path h="1435227" w="19659600">
                  <a:moveTo>
                    <a:pt x="0" y="0"/>
                  </a:moveTo>
                  <a:lnTo>
                    <a:pt x="19659600" y="0"/>
                  </a:lnTo>
                  <a:lnTo>
                    <a:pt x="19659600" y="1435227"/>
                  </a:lnTo>
                  <a:lnTo>
                    <a:pt x="0" y="1435227"/>
                  </a:lnTo>
                  <a:close/>
                </a:path>
              </a:pathLst>
            </a:custGeom>
            <a:solidFill>
              <a:srgbClr val="213264"/>
            </a:solidFill>
          </p:spPr>
        </p:sp>
        <p:sp>
          <p:nvSpPr>
            <p:cNvPr name="Freeform 6" id="6"/>
            <p:cNvSpPr/>
            <p:nvPr/>
          </p:nvSpPr>
          <p:spPr>
            <a:xfrm flipH="false" flipV="false" rot="0">
              <a:off x="0" y="0"/>
              <a:ext cx="19710400" cy="1486027"/>
            </a:xfrm>
            <a:custGeom>
              <a:avLst/>
              <a:gdLst/>
              <a:ahLst/>
              <a:cxnLst/>
              <a:rect r="r" b="b" t="t" l="l"/>
              <a:pathLst>
                <a:path h="1486027" w="19710400">
                  <a:moveTo>
                    <a:pt x="25400" y="0"/>
                  </a:moveTo>
                  <a:lnTo>
                    <a:pt x="19685000" y="0"/>
                  </a:lnTo>
                  <a:cubicBezTo>
                    <a:pt x="19698970" y="0"/>
                    <a:pt x="19710400" y="11430"/>
                    <a:pt x="19710400" y="25400"/>
                  </a:cubicBezTo>
                  <a:lnTo>
                    <a:pt x="19710400" y="1460627"/>
                  </a:lnTo>
                  <a:cubicBezTo>
                    <a:pt x="19710400" y="1474597"/>
                    <a:pt x="19698970" y="1486027"/>
                    <a:pt x="19685000" y="1486027"/>
                  </a:cubicBezTo>
                  <a:lnTo>
                    <a:pt x="25400" y="1486027"/>
                  </a:lnTo>
                  <a:cubicBezTo>
                    <a:pt x="11430" y="1486027"/>
                    <a:pt x="0" y="1474597"/>
                    <a:pt x="0" y="1460627"/>
                  </a:cubicBezTo>
                  <a:lnTo>
                    <a:pt x="0" y="25400"/>
                  </a:lnTo>
                  <a:cubicBezTo>
                    <a:pt x="0" y="11430"/>
                    <a:pt x="11430" y="0"/>
                    <a:pt x="25400" y="0"/>
                  </a:cubicBezTo>
                  <a:moveTo>
                    <a:pt x="25400" y="50800"/>
                  </a:moveTo>
                  <a:lnTo>
                    <a:pt x="25400" y="25400"/>
                  </a:lnTo>
                  <a:lnTo>
                    <a:pt x="50800" y="25400"/>
                  </a:lnTo>
                  <a:lnTo>
                    <a:pt x="50800" y="1460627"/>
                  </a:lnTo>
                  <a:lnTo>
                    <a:pt x="25400" y="1460627"/>
                  </a:lnTo>
                  <a:lnTo>
                    <a:pt x="25400" y="1435227"/>
                  </a:lnTo>
                  <a:lnTo>
                    <a:pt x="19685000" y="1435227"/>
                  </a:lnTo>
                  <a:lnTo>
                    <a:pt x="19685000" y="1460627"/>
                  </a:lnTo>
                  <a:lnTo>
                    <a:pt x="19659600" y="1460627"/>
                  </a:lnTo>
                  <a:lnTo>
                    <a:pt x="19659600" y="25400"/>
                  </a:lnTo>
                  <a:lnTo>
                    <a:pt x="19685000" y="25400"/>
                  </a:lnTo>
                  <a:lnTo>
                    <a:pt x="19685000" y="50800"/>
                  </a:lnTo>
                  <a:lnTo>
                    <a:pt x="25400" y="50800"/>
                  </a:lnTo>
                  <a:close/>
                </a:path>
              </a:pathLst>
            </a:custGeom>
            <a:solidFill>
              <a:srgbClr val="213264"/>
            </a:solidFill>
          </p:spPr>
        </p:sp>
      </p:grpSp>
      <p:grpSp>
        <p:nvGrpSpPr>
          <p:cNvPr name="Group 7" id="7"/>
          <p:cNvGrpSpPr/>
          <p:nvPr/>
        </p:nvGrpSpPr>
        <p:grpSpPr>
          <a:xfrm rot="0">
            <a:off x="14833454" y="-629"/>
            <a:ext cx="168421" cy="1098537"/>
            <a:chOff x="0" y="0"/>
            <a:chExt cx="224561" cy="1464716"/>
          </a:xfrm>
        </p:grpSpPr>
        <p:sp>
          <p:nvSpPr>
            <p:cNvPr name="Freeform 8" id="8"/>
            <p:cNvSpPr/>
            <p:nvPr/>
          </p:nvSpPr>
          <p:spPr>
            <a:xfrm flipH="false" flipV="false" rot="0">
              <a:off x="0" y="0"/>
              <a:ext cx="224536" cy="1464691"/>
            </a:xfrm>
            <a:custGeom>
              <a:avLst/>
              <a:gdLst/>
              <a:ahLst/>
              <a:cxnLst/>
              <a:rect r="r" b="b" t="t" l="l"/>
              <a:pathLst>
                <a:path h="1464691" w="224536">
                  <a:moveTo>
                    <a:pt x="0" y="0"/>
                  </a:moveTo>
                  <a:lnTo>
                    <a:pt x="224536" y="0"/>
                  </a:lnTo>
                  <a:lnTo>
                    <a:pt x="224536" y="1464691"/>
                  </a:lnTo>
                  <a:lnTo>
                    <a:pt x="0" y="1464691"/>
                  </a:lnTo>
                  <a:close/>
                </a:path>
              </a:pathLst>
            </a:custGeom>
            <a:solidFill>
              <a:srgbClr val="7FBA00"/>
            </a:solidFill>
          </p:spPr>
        </p:sp>
      </p:grpSp>
      <p:grpSp>
        <p:nvGrpSpPr>
          <p:cNvPr name="Group 9" id="9"/>
          <p:cNvGrpSpPr/>
          <p:nvPr/>
        </p:nvGrpSpPr>
        <p:grpSpPr>
          <a:xfrm rot="0">
            <a:off x="0" y="-19050"/>
            <a:ext cx="14758988" cy="1085850"/>
            <a:chOff x="0" y="0"/>
            <a:chExt cx="19678650" cy="1447800"/>
          </a:xfrm>
        </p:grpSpPr>
        <p:sp>
          <p:nvSpPr>
            <p:cNvPr name="Freeform 10" id="10" descr="A blue and white background  Description automatically generated with medium confidence"/>
            <p:cNvSpPr/>
            <p:nvPr/>
          </p:nvSpPr>
          <p:spPr>
            <a:xfrm flipH="false" flipV="false" rot="0">
              <a:off x="0" y="0"/>
              <a:ext cx="19678650" cy="1447800"/>
            </a:xfrm>
            <a:custGeom>
              <a:avLst/>
              <a:gdLst/>
              <a:ahLst/>
              <a:cxnLst/>
              <a:rect r="r" b="b" t="t" l="l"/>
              <a:pathLst>
                <a:path h="1447800" w="19678650">
                  <a:moveTo>
                    <a:pt x="0" y="0"/>
                  </a:moveTo>
                  <a:lnTo>
                    <a:pt x="19678650" y="0"/>
                  </a:lnTo>
                  <a:lnTo>
                    <a:pt x="19678650" y="1447800"/>
                  </a:lnTo>
                  <a:lnTo>
                    <a:pt x="0" y="1447800"/>
                  </a:lnTo>
                  <a:lnTo>
                    <a:pt x="0" y="0"/>
                  </a:lnTo>
                  <a:close/>
                </a:path>
              </a:pathLst>
            </a:custGeom>
            <a:blipFill>
              <a:blip r:embed="rId3">
                <a:alphaModFix amt="16000"/>
              </a:blip>
              <a:stretch>
                <a:fillRect l="0" t="-213488" r="-1645" b="-549998"/>
              </a:stretch>
            </a:blipFill>
          </p:spPr>
        </p:sp>
      </p:grpSp>
      <p:grpSp>
        <p:nvGrpSpPr>
          <p:cNvPr name="Group 11" id="11"/>
          <p:cNvGrpSpPr/>
          <p:nvPr/>
        </p:nvGrpSpPr>
        <p:grpSpPr>
          <a:xfrm rot="0">
            <a:off x="17887950" y="-629"/>
            <a:ext cx="400050" cy="1098537"/>
            <a:chOff x="0" y="0"/>
            <a:chExt cx="533400" cy="1464716"/>
          </a:xfrm>
        </p:grpSpPr>
        <p:sp>
          <p:nvSpPr>
            <p:cNvPr name="Freeform 12" id="12"/>
            <p:cNvSpPr/>
            <p:nvPr/>
          </p:nvSpPr>
          <p:spPr>
            <a:xfrm flipH="false" flipV="false" rot="0">
              <a:off x="0" y="0"/>
              <a:ext cx="533400" cy="1464691"/>
            </a:xfrm>
            <a:custGeom>
              <a:avLst/>
              <a:gdLst/>
              <a:ahLst/>
              <a:cxnLst/>
              <a:rect r="r" b="b" t="t" l="l"/>
              <a:pathLst>
                <a:path h="1464691" w="533400">
                  <a:moveTo>
                    <a:pt x="0" y="0"/>
                  </a:moveTo>
                  <a:lnTo>
                    <a:pt x="533400" y="0"/>
                  </a:lnTo>
                  <a:lnTo>
                    <a:pt x="533400" y="1464691"/>
                  </a:lnTo>
                  <a:lnTo>
                    <a:pt x="0" y="1464691"/>
                  </a:lnTo>
                  <a:close/>
                </a:path>
              </a:pathLst>
            </a:custGeom>
            <a:solidFill>
              <a:srgbClr val="FED500"/>
            </a:solidFill>
          </p:spPr>
        </p:sp>
      </p:grpSp>
      <p:sp>
        <p:nvSpPr>
          <p:cNvPr name="TextBox 13" id="13"/>
          <p:cNvSpPr txBox="true"/>
          <p:nvPr/>
        </p:nvSpPr>
        <p:spPr>
          <a:xfrm rot="0">
            <a:off x="6564230" y="4445232"/>
            <a:ext cx="5159531" cy="1345349"/>
          </a:xfrm>
          <a:prstGeom prst="rect">
            <a:avLst/>
          </a:prstGeom>
        </p:spPr>
        <p:txBody>
          <a:bodyPr anchor="t" rtlCol="false" tIns="0" lIns="0" bIns="0" rIns="0">
            <a:spAutoFit/>
          </a:bodyPr>
          <a:lstStyle/>
          <a:p>
            <a:pPr algn="l">
              <a:lnSpc>
                <a:spcPts val="9000"/>
              </a:lnSpc>
            </a:pPr>
            <a:r>
              <a:rPr lang="en-US" sz="7500" b="true">
                <a:solidFill>
                  <a:srgbClr val="213163"/>
                </a:solidFill>
                <a:latin typeface="Arial Bold"/>
                <a:ea typeface="Arial Bold"/>
                <a:cs typeface="Arial Bold"/>
                <a:sym typeface="Arial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DAHEN0P2fz0</dc:identifier>
  <dcterms:modified xsi:type="dcterms:W3CDTF">2011-08-01T06:04:30Z</dcterms:modified>
  <cp:revision>1</cp:revision>
  <dc:title>AI-Based Energy Consumption Prediction and Optimization System</dc:title>
</cp:coreProperties>
</file>